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03fa85d8194a7c" /><Relationship Type="http://schemas.openxmlformats.org/officeDocument/2006/relationships/extended-properties" Target="/docProps/app.xml" Id="R08f1e33afdd04f2e" /><Relationship Type="http://schemas.openxmlformats.org/officeDocument/2006/relationships/officeDocument" Target="/ppt/presentation.xml" Id="R02bba423754f46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8a6cf201284683"/>
  </p:sldMasterIdLst>
  <p:notesMasterIdLst>
    <p:notesMasterId xmlns:r="http://schemas.openxmlformats.org/officeDocument/2006/relationships" r:id="R432ce353a9c34fc0"/>
  </p:notesMasterIdLst>
  <p:sldIdLst>
    <p:sldId xmlns:r="http://schemas.openxmlformats.org/officeDocument/2006/relationships" id="256" r:id="R179cb4d15c594af9"/>
    <p:sldId xmlns:r="http://schemas.openxmlformats.org/officeDocument/2006/relationships" id="257" r:id="Rc29fc1fba7e64fcf"/>
    <p:sldId xmlns:r="http://schemas.openxmlformats.org/officeDocument/2006/relationships" id="258" r:id="R68496a384fcc48d5"/>
    <p:sldId xmlns:r="http://schemas.openxmlformats.org/officeDocument/2006/relationships" id="259" r:id="Ra6501c53a39c4598"/>
    <p:sldId xmlns:r="http://schemas.openxmlformats.org/officeDocument/2006/relationships" id="260" r:id="R4d3011dd3ae34407"/>
    <p:sldId xmlns:r="http://schemas.openxmlformats.org/officeDocument/2006/relationships" id="261" r:id="Rebe399cd665c467d"/>
    <p:sldId xmlns:r="http://schemas.openxmlformats.org/officeDocument/2006/relationships" id="262" r:id="R3e1475db3aaf41a0"/>
    <p:sldId xmlns:r="http://schemas.openxmlformats.org/officeDocument/2006/relationships" id="263" r:id="R8a8ec5df5a5b4f3e"/>
    <p:sldId xmlns:r="http://schemas.openxmlformats.org/officeDocument/2006/relationships" id="264" r:id="R955ce1cd00ef4bf2"/>
    <p:sldId xmlns:r="http://schemas.openxmlformats.org/officeDocument/2006/relationships" id="265" r:id="R82a343be5394483c"/>
    <p:sldId xmlns:r="http://schemas.openxmlformats.org/officeDocument/2006/relationships" id="266" r:id="Rd7205e7c61ba4df8"/>
    <p:sldId xmlns:r="http://schemas.openxmlformats.org/officeDocument/2006/relationships" id="267" r:id="R55b83487810a40b7"/>
    <p:sldId xmlns:r="http://schemas.openxmlformats.org/officeDocument/2006/relationships" id="268" r:id="R3e12ac88048b40d5"/>
    <p:sldId xmlns:r="http://schemas.openxmlformats.org/officeDocument/2006/relationships" id="269" r:id="Rba17595ff1a84dec"/>
    <p:sldId xmlns:r="http://schemas.openxmlformats.org/officeDocument/2006/relationships" id="270" r:id="Rabc3f310a703487f"/>
    <p:sldId xmlns:r="http://schemas.openxmlformats.org/officeDocument/2006/relationships" id="271" r:id="R0154ac6a457a455d"/>
    <p:sldId xmlns:r="http://schemas.openxmlformats.org/officeDocument/2006/relationships" id="272" r:id="R5d90f34aca9d4a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d1c9ae4417441c" /><Relationship Type="http://schemas.openxmlformats.org/officeDocument/2006/relationships/slideMaster" Target="/ppt/slideMasters/slideMaster1.xml" Id="R718a6cf201284683" /><Relationship Type="http://schemas.openxmlformats.org/officeDocument/2006/relationships/notesMaster" Target="/ppt/notesMasters/notesMaster1.xml" Id="R432ce353a9c34fc0" /><Relationship Type="http://schemas.openxmlformats.org/officeDocument/2006/relationships/presProps" Target="/ppt/presProps.xml" Id="R5b023ba156a540c1" /><Relationship Type="http://schemas.openxmlformats.org/officeDocument/2006/relationships/tableStyles" Target="/ppt/tableStyles.xml" Id="R93367d6352a34d95" /><Relationship Type="http://schemas.openxmlformats.org/officeDocument/2006/relationships/slide" Target="/ppt/slides/slide1.xml" Id="R179cb4d15c594af9" /><Relationship Type="http://schemas.openxmlformats.org/officeDocument/2006/relationships/slide" Target="/ppt/slides/slide2.xml" Id="Rc29fc1fba7e64fcf" /><Relationship Type="http://schemas.openxmlformats.org/officeDocument/2006/relationships/slide" Target="/ppt/slides/slide3.xml" Id="R68496a384fcc48d5" /><Relationship Type="http://schemas.openxmlformats.org/officeDocument/2006/relationships/slide" Target="/ppt/slides/slide4.xml" Id="Ra6501c53a39c4598" /><Relationship Type="http://schemas.openxmlformats.org/officeDocument/2006/relationships/slide" Target="/ppt/slides/slide5.xml" Id="R4d3011dd3ae34407" /><Relationship Type="http://schemas.openxmlformats.org/officeDocument/2006/relationships/slide" Target="/ppt/slides/slide6.xml" Id="Rebe399cd665c467d" /><Relationship Type="http://schemas.openxmlformats.org/officeDocument/2006/relationships/slide" Target="/ppt/slides/slide7.xml" Id="R3e1475db3aaf41a0" /><Relationship Type="http://schemas.openxmlformats.org/officeDocument/2006/relationships/slide" Target="/ppt/slides/slide8.xml" Id="R8a8ec5df5a5b4f3e" /><Relationship Type="http://schemas.openxmlformats.org/officeDocument/2006/relationships/slide" Target="/ppt/slides/slide9.xml" Id="R955ce1cd00ef4bf2" /><Relationship Type="http://schemas.openxmlformats.org/officeDocument/2006/relationships/slide" Target="/ppt/slides/slide10.xml" Id="R82a343be5394483c" /><Relationship Type="http://schemas.openxmlformats.org/officeDocument/2006/relationships/slide" Target="/ppt/slides/slide11.xml" Id="Rd7205e7c61ba4df8" /><Relationship Type="http://schemas.openxmlformats.org/officeDocument/2006/relationships/slide" Target="/ppt/slides/slide12.xml" Id="R55b83487810a40b7" /><Relationship Type="http://schemas.openxmlformats.org/officeDocument/2006/relationships/slide" Target="/ppt/slides/slide13.xml" Id="R3e12ac88048b40d5" /><Relationship Type="http://schemas.openxmlformats.org/officeDocument/2006/relationships/slide" Target="/ppt/slides/slide14.xml" Id="Rba17595ff1a84dec" /><Relationship Type="http://schemas.openxmlformats.org/officeDocument/2006/relationships/slide" Target="/ppt/slides/slide15.xml" Id="Rabc3f310a703487f" /><Relationship Type="http://schemas.openxmlformats.org/officeDocument/2006/relationships/slide" Target="/ppt/slides/slide16.xml" Id="R0154ac6a457a455d" /><Relationship Type="http://schemas.openxmlformats.org/officeDocument/2006/relationships/slide" Target="/ppt/slides/slide17.xml" Id="R5d90f34aca9d4a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3df8a8fe1e4c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825fe9e035403a" /><Relationship Type="http://schemas.openxmlformats.org/officeDocument/2006/relationships/notesMaster" Target="/ppt/notesMasters/notesMaster1.xml" Id="Re70bf116c27f49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c754e74fa4489f" /><Relationship Type="http://schemas.openxmlformats.org/officeDocument/2006/relationships/notesMaster" Target="/ppt/notesMasters/notesMaster1.xml" Id="R4ec5e06e39e647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a5e353ccc045b2" /><Relationship Type="http://schemas.openxmlformats.org/officeDocument/2006/relationships/notesMaster" Target="/ppt/notesMasters/notesMaster1.xml" Id="R408b81ecab094f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cebd6b4f03460e" /><Relationship Type="http://schemas.openxmlformats.org/officeDocument/2006/relationships/notesMaster" Target="/ppt/notesMasters/notesMaster1.xml" Id="R109254a22f9c41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b766005934471d" /><Relationship Type="http://schemas.openxmlformats.org/officeDocument/2006/relationships/notesMaster" Target="/ppt/notesMasters/notesMaster1.xml" Id="Rd9dd09eacb3844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19ce6cf87b476c" /><Relationship Type="http://schemas.openxmlformats.org/officeDocument/2006/relationships/notesMaster" Target="/ppt/notesMasters/notesMaster1.xml" Id="R3e73919bd50c45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0517e8ad2c443d" /><Relationship Type="http://schemas.openxmlformats.org/officeDocument/2006/relationships/notesMaster" Target="/ppt/notesMasters/notesMaster1.xml" Id="R68b02b93c5894c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f12fbff4b824e3c" /><Relationship Type="http://schemas.openxmlformats.org/officeDocument/2006/relationships/notesMaster" Target="/ppt/notesMasters/notesMaster1.xml" Id="R3abf3d25123645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b62d2983444730" /><Relationship Type="http://schemas.openxmlformats.org/officeDocument/2006/relationships/notesMaster" Target="/ppt/notesMasters/notesMaster1.xml" Id="R69c514eb522b49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988ba1954243c7" /><Relationship Type="http://schemas.openxmlformats.org/officeDocument/2006/relationships/notesMaster" Target="/ppt/notesMasters/notesMaster1.xml" Id="R1b1514a84b804b5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32433d5deba41e3" /><Relationship Type="http://schemas.openxmlformats.org/officeDocument/2006/relationships/notesMaster" Target="/ppt/notesMasters/notesMaster1.xml" Id="Re66b016dc2904f8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045ed80284424b" /><Relationship Type="http://schemas.openxmlformats.org/officeDocument/2006/relationships/notesMaster" Target="/ppt/notesMasters/notesMaster1.xml" Id="Rf9bda61e57fa4db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c0c55b7799948f5" /><Relationship Type="http://schemas.openxmlformats.org/officeDocument/2006/relationships/notesMaster" Target="/ppt/notesMasters/notesMaster1.xml" Id="Rae89de8dfc3341a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784b02564e243a2" /><Relationship Type="http://schemas.openxmlformats.org/officeDocument/2006/relationships/notesMaster" Target="/ppt/notesMasters/notesMaster1.xml" Id="Rab5c1ada2f974d8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90473455e134b40" /><Relationship Type="http://schemas.openxmlformats.org/officeDocument/2006/relationships/notesMaster" Target="/ppt/notesMasters/notesMaster1.xml" Id="Rdc45ef6a8bff499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08b069debe54d55" /><Relationship Type="http://schemas.openxmlformats.org/officeDocument/2006/relationships/notesMaster" Target="/ppt/notesMasters/notesMaster1.xml" Id="R028e563bd31f4aa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b5deed462cd4ddc" /><Relationship Type="http://schemas.openxmlformats.org/officeDocument/2006/relationships/notesMaster" Target="/ppt/notesMasters/notesMaster1.xml" Id="Rff69508befec47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assignment tracker and explain how the application and delivery workflow fit together. Source: https://github.com/karttikjangid/homework-tracker-capstone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frontend and create an assignment. Explain how the session and due-date fields make this application specific to the course. Source: README.md and screenshots/terminal/cloud-after.png in the project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request path first, then the delivery path. CI uses an isolated Kind cluster. The Azure deployment is a separate Helm promotion through a private Kubernetes API over an SSH tunnel. Do not describe the CI Kind deployment as an automatic Azure deployment. Sources: README.md, .github/workflows/ci-cd.yml, terraform/, helm/taskboard/.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/docs for the API demonstration. Show create, read, update and delete, then explain the database row and Alembic version. Source: docs/development.md, screenshots/terminal/database.txt, screenshots/terminal/cloud-api-after.txt. The screenshot views recorded output and is not a fresh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one endpoint test and the migration test. The recorded CI result also reports 11 passed and one Starlette deprecation warning. Sources: backend/tests/, screenshots/mac/pytest.txt, screenshots/verification/standalone-review-tests.txt.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docker compose up -d --build --wait for a live local demonstration, then docker compose ps. Explain the named database volume and the difference between down and down -v. Sources: docker-compose.yml, backend/Dockerfile, frontend/Dockerfile, screenshots/terminal/compose-commands.json. This slide shows recorded verification.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https://github.com/karttikjangid/homework-tracker-capstone/actions/runs/38812142701. Explain the path filters: application and infrastructure changes trigger the workflow, documentation-only changes do not. Application image SHA: 2b74cb7f4da3cbb2dccc8faaab52b23c68f46f98. Later documentation commits do not rebuild the images. Source: .github/workflows/ci-cd.yml.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actual pipeline scan steps. Explain that a clean image scan means no reported findings at the configured severity threshold for that run, not a guarantee that the application has no vulnerabilities. Sources: .github/workflows/ci-cd.yml, screenshots/verification/standalone-backend-scan.txt, screenshots/verification/standalone-frontend-scan.txt.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provider, variables, resources, outputs and state using terraform/. Azure/K3s is the implementation chosen for this project. The reference rubric specifies AWS VPC and EKS, so this is a substitution and instructor acceptance is not recorded. Never claim it is an EKS deployment. Sources: terraform/, docs/deployment.md, docs/course/requirements.md.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kubectl get pods, kubectl get svc and helm list for the project namespace in a live demo. Explain values.yaml and helm upgrade --install. CI checks the Helm release in Kind, while the cloud walkthrough shows K3s. Sources: helm/taskboard/, k8s/, docs/deployment.md, screenshots/terminal/kubernetes-pods.txt.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CPU requests, Metrics Server and the HPA target before showing the output. Refer to the cloud load recording at 02:34 in the walkthrough. Sources: screenshots/terminal/cloud-hpa-load.txt, scripts/load-test.sh, helm/taskboard/templates/.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Prometheus Targets screenshot and its UP state, then explain a populated Grafana panel. Distinguish HTTP request metrics from container CPU metrics used by HPA. Sources: monitoring/, screenshots/terminal/cloud-prometheus-targets.png, screenshots/terminal/cloud-grafana-dashboard.png.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AppProject and Application manifests. The GitOps demonstration uses an isolated CI namespace and is not a claim of a continuously running Argo CD installation on Azure. Sources: gitops/, screenshots/verification/standalone-review-gitops.yaml, .github/workflows/ci-cd.yml.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how events distinguish an image pull failure from a running Pod with no Service traffic. Show the recorded troubleshooting exercise, then the successful rerun. Sources: docs/troubleshooting.md, scripts/troubleshoot.sh, screenshots/terminal/cloud-troubleshooting.txt, screenshots/terminal/service-check-first-attempt.txt. Do not describe every issue as an accidental production incident.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cleanup result is historical evidence from October 2026, not a new Azure account audit. Explain why temporary infrastructure was removed and why a live cloud demo would require another provision. Sources: screenshots/terminal/terraform-destroy.txt, screenshots/terminal/azure-cleanup.txt, docs/verification.md.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one example for each lesson. These came from the migration test, initial Service timeout, release promotion and Terraform cleanup. Sources: docs/troubleshooting.md, docs/verification.md, .github/workflows/ci-cd.yml.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existing walkthrough as supporting material. Live classroom presentation or a remote recording should explain each component. Demo order follows the instructor README Part O and GRADING.md M10. Sources: https://github.com/Nency-Ravaliya/devops-heros/blob/main/session21-python/README.md#part-o--final-demo and https://github.com/Nency-Ravaliya/devops-heros/blob/main/session21-python/GRADING.md#m10--final-presentation--documentation-5-points. Project walkthrough: https://github.com/karttikjangid/homework-tracker-capstone/blob/main/docs/walkthrough.md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801dd2dcb14c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51d297eae54f3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69b1e3eb6643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13d1dfbd1949f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d842d8f339462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6b34e69d654a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7E9301-FC02-4F24-B7A8-C3259B3C89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AF17DA8-269E-445C-B64F-746ADE2E913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54A692B-33FA-410F-AF44-80F6FD073F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540B99A-D036-4F6C-A6D5-CEBF8190A5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1A38B2C-23A5-489C-B391-8D5C39A20F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93DEFD1-1A4C-4FFB-8A84-382362B6B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F9C126A-99F1-4A12-9D37-85F1834DFE7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22D4C38-3194-4432-8D28-EA4635CF792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8347B4D-5246-4406-89AA-F86CEB323A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C7F9BA4-CE6E-41EF-BB55-36FD9D976B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583874027b4941" /><Relationship Type="http://schemas.openxmlformats.org/officeDocument/2006/relationships/slideLayout" Target="/ppt/slideLayouts/slideLayout1.xml" Id="R7f673beeee884aa6" /><Relationship Type="http://schemas.openxmlformats.org/officeDocument/2006/relationships/slideLayout" Target="/ppt/slideLayouts/slideLayout2.xml" Id="Rcaa8ef7da9ce4101" /><Relationship Type="http://schemas.openxmlformats.org/officeDocument/2006/relationships/slideLayout" Target="/ppt/slideLayouts/slideLayout3.xml" Id="R4df09283b957472b" /><Relationship Type="http://schemas.openxmlformats.org/officeDocument/2006/relationships/slideLayout" Target="/ppt/slideLayouts/slideLayout4.xml" Id="Rc2fdceb1e51c4e21" /><Relationship Type="http://schemas.openxmlformats.org/officeDocument/2006/relationships/slideLayout" Target="/ppt/slideLayouts/slideLayout5.xml" Id="R630de79dfafe42f0" /><Relationship Type="http://schemas.openxmlformats.org/officeDocument/2006/relationships/slideLayout" Target="/ppt/slideLayouts/slideLayout6.xml" Id="R30b32d8b81934c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673beeee884aa6"/>
    <p:sldLayoutId xmlns:r="http://schemas.openxmlformats.org/officeDocument/2006/relationships" id="2147483650" r:id="Rcaa8ef7da9ce4101"/>
    <p:sldLayoutId xmlns:r="http://schemas.openxmlformats.org/officeDocument/2006/relationships" id="2147483651" r:id="R4df09283b957472b"/>
    <p:sldLayoutId xmlns:r="http://schemas.openxmlformats.org/officeDocument/2006/relationships" id="2147483652" r:id="Rc2fdceb1e51c4e21"/>
    <p:sldLayoutId xmlns:r="http://schemas.openxmlformats.org/officeDocument/2006/relationships" id="2147483653" r:id="R630de79dfafe42f0"/>
    <p:sldLayoutId xmlns:r="http://schemas.openxmlformats.org/officeDocument/2006/relationships" id="2147483654" r:id="R30b32d8b81934c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9b9b8b877b4a1c" /><Relationship Type="http://schemas.openxmlformats.org/officeDocument/2006/relationships/notesSlide" Target="/ppt/notesSlides/notesSlide1.xml" Id="R1edaa6e1bb1f4b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d0f4d2d9d54252" /><Relationship Type="http://schemas.openxmlformats.org/officeDocument/2006/relationships/image" Target="/ppt/media/image.png" Id="R2eda2caee06340a0" /><Relationship Type="http://schemas.openxmlformats.org/officeDocument/2006/relationships/notesSlide" Target="/ppt/notesSlides/notesSlide2.xml" Id="R10953539c28a45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317416f8b44670" /><Relationship Type="http://schemas.openxmlformats.org/officeDocument/2006/relationships/notesSlide" Target="/ppt/notesSlides/notesSlide3.xml" Id="Rd1f2182c96b744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1e54d8195d4730" /><Relationship Type="http://schemas.openxmlformats.org/officeDocument/2006/relationships/image" Target="/ppt/media/image2.png" Id="Rd7819abf8e134848" /><Relationship Type="http://schemas.openxmlformats.org/officeDocument/2006/relationships/notesSlide" Target="/ppt/notesSlides/notesSlide4.xml" Id="R59a9c70f57ac42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53251f393a4f5f" /><Relationship Type="http://schemas.openxmlformats.org/officeDocument/2006/relationships/image" Target="/ppt/media/image3.png" Id="Ra1626d6fff0a44c3" /><Relationship Type="http://schemas.openxmlformats.org/officeDocument/2006/relationships/notesSlide" Target="/ppt/notesSlides/notesSlide5.xml" Id="R363aeb975e394d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501a2dac814f76" /><Relationship Type="http://schemas.openxmlformats.org/officeDocument/2006/relationships/image" Target="/ppt/media/image4.png" Id="Re97ba27bab204f4c" /><Relationship Type="http://schemas.openxmlformats.org/officeDocument/2006/relationships/notesSlide" Target="/ppt/notesSlides/notesSlide6.xml" Id="R64406225326e43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4fedfb60a54ddd" /><Relationship Type="http://schemas.openxmlformats.org/officeDocument/2006/relationships/image" Target="/ppt/media/image5.png" Id="R3f4b009e3be24ed1" /><Relationship Type="http://schemas.openxmlformats.org/officeDocument/2006/relationships/notesSlide" Target="/ppt/notesSlides/notesSlide7.xml" Id="R8a841a4e67a047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d3eba7854c4abb" /><Relationship Type="http://schemas.openxmlformats.org/officeDocument/2006/relationships/notesSlide" Target="/ppt/notesSlides/notesSlide8.xml" Id="Rb90845deef9b4e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cccba63a664d56" /><Relationship Type="http://schemas.openxmlformats.org/officeDocument/2006/relationships/image" Target="/ppt/media/image6.png" Id="R6b549fbcffa6449f" /><Relationship Type="http://schemas.openxmlformats.org/officeDocument/2006/relationships/notesSlide" Target="/ppt/notesSlides/notesSlide9.xml" Id="Re254bba5aca141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ac605151b74d22" /><Relationship Type="http://schemas.openxmlformats.org/officeDocument/2006/relationships/image" Target="/ppt/media/image7.png" Id="R549c10c68543461d" /><Relationship Type="http://schemas.openxmlformats.org/officeDocument/2006/relationships/notesSlide" Target="/ppt/notesSlides/notesSlide10.xml" Id="R182b25a34ffd4d0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3812aaa1f14aee" /><Relationship Type="http://schemas.openxmlformats.org/officeDocument/2006/relationships/image" Target="/ppt/media/image8.png" Id="Rd603c2b7ef044aaa" /><Relationship Type="http://schemas.openxmlformats.org/officeDocument/2006/relationships/notesSlide" Target="/ppt/notesSlides/notesSlide11.xml" Id="Rcecd19af9eaa4f3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c465e0ee7a46cd" /><Relationship Type="http://schemas.openxmlformats.org/officeDocument/2006/relationships/image" Target="/ppt/media/image9.png" Id="Rc0f41ed462874048" /><Relationship Type="http://schemas.openxmlformats.org/officeDocument/2006/relationships/notesSlide" Target="/ppt/notesSlides/notesSlide12.xml" Id="Rce3bbfa18c3b407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971803c526457c" /><Relationship Type="http://schemas.openxmlformats.org/officeDocument/2006/relationships/image" Target="/ppt/media/image10.png" Id="Rd576adc11bcc4d14" /><Relationship Type="http://schemas.openxmlformats.org/officeDocument/2006/relationships/notesSlide" Target="/ppt/notesSlides/notesSlide13.xml" Id="R05d515266926442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f93eb5e8b9470c" /><Relationship Type="http://schemas.openxmlformats.org/officeDocument/2006/relationships/notesSlide" Target="/ppt/notesSlides/notesSlide14.xml" Id="R4adeb6b656974ca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06cf6a7ec44b8c" /><Relationship Type="http://schemas.openxmlformats.org/officeDocument/2006/relationships/image" Target="/ppt/media/image11.png" Id="R43c05977bfd64259" /><Relationship Type="http://schemas.openxmlformats.org/officeDocument/2006/relationships/notesSlide" Target="/ppt/notesSlides/notesSlide15.xml" Id="R5c7ebe73f141494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c1fded3d684b05" /><Relationship Type="http://schemas.openxmlformats.org/officeDocument/2006/relationships/notesSlide" Target="/ppt/notesSlides/notesSlide16.xml" Id="Rbcc0ab4df6e94ef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6487152a6a46a1" /><Relationship Type="http://schemas.openxmlformats.org/officeDocument/2006/relationships/notesSlide" Target="/ppt/notesSlides/notesSlide17.xml" Id="Rcbb1e3b6bdfa4d7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6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3ED593-3CD5-412C-B715-42E2950B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B9CCD9"/>
                </a:solidFill>
              </a:defRPr>
            </a:defPPr>
            <a:lvl1pPr>
              <a:defRPr sz="1800" b="0">
                <a:solidFill>
                  <a:srgbClr val="B9CCD9"/>
                </a:solidFill>
              </a:defRPr>
            </a:lvl1pPr>
            <a:lvl2pPr>
              <a:defRPr sz="1800" b="0">
                <a:solidFill>
                  <a:srgbClr val="B9CCD9"/>
                </a:solidFill>
              </a:defRPr>
            </a:lvl2pPr>
            <a:lvl3pPr>
              <a:defRPr sz="1800" b="0">
                <a:solidFill>
                  <a:srgbClr val="B9CCD9"/>
                </a:solidFill>
              </a:defRPr>
            </a:lvl3pPr>
            <a:lvl4pPr>
              <a:defRPr sz="1800" b="0">
                <a:solidFill>
                  <a:srgbClr val="B9CCD9"/>
                </a:solidFill>
              </a:defRPr>
            </a:lvl4pPr>
            <a:lvl5pPr>
              <a:defRPr sz="1800" b="0">
                <a:solidFill>
                  <a:srgbClr val="B9CCD9"/>
                </a:solidFill>
              </a:defRPr>
            </a:lvl5pPr>
            <a:lvl6pPr>
              <a:defRPr sz="1800" b="0">
                <a:solidFill>
                  <a:srgbClr val="B9CCD9"/>
                </a:solidFill>
              </a:defRPr>
            </a:lvl6pPr>
            <a:lvl7pPr>
              <a:defRPr sz="1800" b="0">
                <a:solidFill>
                  <a:srgbClr val="B9CCD9"/>
                </a:solidFill>
              </a:defRPr>
            </a:lvl7pPr>
            <a:lvl8pPr>
              <a:defRPr sz="1800" b="0">
                <a:solidFill>
                  <a:srgbClr val="B9CCD9"/>
                </a:solidFill>
              </a:defRPr>
            </a:lvl8pPr>
            <a:lvl9pPr>
              <a:defRPr sz="1800" b="0">
                <a:solidFill>
                  <a:srgbClr val="B9CCD9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9CCD9"/>
                </a:solidFill>
              </a:defRPr>
            </a:pPr>
            <a:r>
              <a:rPr sz="1800" b="0">
                <a:solidFill>
                  <a:srgbClr val="B9CCD9"/>
                </a:solidFill>
              </a:rPr>
              <a:t>DEVOPS FINAL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FA3DE1-DA1D-4317-A3B0-02839325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1">
                <a:solidFill>
                  <a:srgbClr val="FFFFFF"/>
                </a:solidFill>
              </a:defRPr>
            </a:defPPr>
            <a:lvl1pPr>
              <a:defRPr sz="5250" b="1">
                <a:solidFill>
                  <a:srgbClr val="FFFFFF"/>
                </a:solidFill>
              </a:defRPr>
            </a:lvl1pPr>
            <a:lvl2pPr>
              <a:defRPr sz="5250" b="1">
                <a:solidFill>
                  <a:srgbClr val="FFFFFF"/>
                </a:solidFill>
              </a:defRPr>
            </a:lvl2pPr>
            <a:lvl3pPr>
              <a:defRPr sz="5250" b="1">
                <a:solidFill>
                  <a:srgbClr val="FFFFFF"/>
                </a:solidFill>
              </a:defRPr>
            </a:lvl3pPr>
            <a:lvl4pPr>
              <a:defRPr sz="5250" b="1">
                <a:solidFill>
                  <a:srgbClr val="FFFFFF"/>
                </a:solidFill>
              </a:defRPr>
            </a:lvl4pPr>
            <a:lvl5pPr>
              <a:defRPr sz="5250" b="1">
                <a:solidFill>
                  <a:srgbClr val="FFFFFF"/>
                </a:solidFill>
              </a:defRPr>
            </a:lvl5pPr>
            <a:lvl6pPr>
              <a:defRPr sz="5250" b="1">
                <a:solidFill>
                  <a:srgbClr val="FFFFFF"/>
                </a:solidFill>
              </a:defRPr>
            </a:lvl6pPr>
            <a:lvl7pPr>
              <a:defRPr sz="5250" b="1">
                <a:solidFill>
                  <a:srgbClr val="FFFFFF"/>
                </a:solidFill>
              </a:defRPr>
            </a:lvl7pPr>
            <a:lvl8pPr>
              <a:defRPr sz="5250" b="1">
                <a:solidFill>
                  <a:srgbClr val="FFFFFF"/>
                </a:solidFill>
              </a:defRPr>
            </a:lvl8pPr>
            <a:lvl9pPr>
              <a:defRPr sz="52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5250" b="1">
                <a:solidFill>
                  <a:srgbClr val="FFFFFF"/>
                </a:solidFill>
              </a:defRPr>
            </a:pPr>
            <a:r>
              <a:rPr sz="5250" b="1">
                <a:solidFill>
                  <a:srgbClr val="FFFFFF"/>
                </a:solidFill>
              </a:rPr>
              <a:t>Homework Tracker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4D2528-E3C8-451E-B3FF-AB8C9E72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47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Kartik Jangid</a:t>
            </a:r>
          </a:p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React, FastAPI and PostgreSQL</a:t>
            </a:r>
          </a:p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Azure deployment with K3s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905476-0863-476A-9DF6-26B06B82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CCD9"/>
                </a:solidFill>
              </a:defRPr>
            </a:defPPr>
            <a:lvl1pPr>
              <a:defRPr sz="1200" b="0">
                <a:solidFill>
                  <a:srgbClr val="B9CCD9"/>
                </a:solidFill>
              </a:defRPr>
            </a:lvl1pPr>
            <a:lvl2pPr>
              <a:defRPr sz="1200" b="0">
                <a:solidFill>
                  <a:srgbClr val="B9CCD9"/>
                </a:solidFill>
              </a:defRPr>
            </a:lvl2pPr>
            <a:lvl3pPr>
              <a:defRPr sz="1200" b="0">
                <a:solidFill>
                  <a:srgbClr val="B9CCD9"/>
                </a:solidFill>
              </a:defRPr>
            </a:lvl3pPr>
            <a:lvl4pPr>
              <a:defRPr sz="1200" b="0">
                <a:solidFill>
                  <a:srgbClr val="B9CCD9"/>
                </a:solidFill>
              </a:defRPr>
            </a:lvl4pPr>
            <a:lvl5pPr>
              <a:defRPr sz="1200" b="0">
                <a:solidFill>
                  <a:srgbClr val="B9CCD9"/>
                </a:solidFill>
              </a:defRPr>
            </a:lvl5pPr>
            <a:lvl6pPr>
              <a:defRPr sz="1200" b="0">
                <a:solidFill>
                  <a:srgbClr val="B9CCD9"/>
                </a:solidFill>
              </a:defRPr>
            </a:lvl6pPr>
            <a:lvl7pPr>
              <a:defRPr sz="1200" b="0">
                <a:solidFill>
                  <a:srgbClr val="B9CCD9"/>
                </a:solidFill>
              </a:defRPr>
            </a:lvl7pPr>
            <a:lvl8pPr>
              <a:defRPr sz="1200" b="0">
                <a:solidFill>
                  <a:srgbClr val="B9CCD9"/>
                </a:solidFill>
              </a:defRPr>
            </a:lvl8pPr>
            <a:lvl9pPr>
              <a:defRPr sz="1200" b="0">
                <a:solidFill>
                  <a:srgbClr val="B9CCD9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CD9"/>
                </a:solidFill>
              </a:defRPr>
            </a:pPr>
            <a:r>
              <a:rPr sz="1200" b="0">
                <a:solidFill>
                  <a:srgbClr val="B9CCD9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824063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5DFCA-28A5-4125-A4D7-04A3C565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The application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D98AA8-FC82-485D-A57C-C8522B86DD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da2caee06340a0"/>
          <a:stretch xmlns:a="http://schemas.openxmlformats.org/drawingml/2006/main"/>
        </p:blipFill>
        <p:spPr>
          <a:xfrm xmlns:a="http://schemas.openxmlformats.org/drawingml/2006/main">
            <a:off x="826558" y="1381125"/>
            <a:ext cx="7186083" cy="46196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E6B37-40AD-4268-AC19-B22646E7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524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Assignments for Sessions 1–21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70BA4-3F84-4496-AC74-ABC54013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95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Deadline, assignee and priority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D4EF44-11A3-4B44-ABE8-6215B972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671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Create, edit, filter and track status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FFF24B-FED3-4145-AE6A-B2919A52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77A"/>
                </a:solidFill>
              </a:defRPr>
            </a:defPPr>
            <a:lvl1pPr>
              <a:defRPr sz="1275" b="0">
                <a:solidFill>
                  <a:srgbClr val="5B677A"/>
                </a:solidFill>
              </a:defRPr>
            </a:lvl1pPr>
            <a:lvl2pPr>
              <a:defRPr sz="1275" b="0">
                <a:solidFill>
                  <a:srgbClr val="5B677A"/>
                </a:solidFill>
              </a:defRPr>
            </a:lvl2pPr>
            <a:lvl3pPr>
              <a:defRPr sz="1275" b="0">
                <a:solidFill>
                  <a:srgbClr val="5B677A"/>
                </a:solidFill>
              </a:defRPr>
            </a:lvl3pPr>
            <a:lvl4pPr>
              <a:defRPr sz="1275" b="0">
                <a:solidFill>
                  <a:srgbClr val="5B677A"/>
                </a:solidFill>
              </a:defRPr>
            </a:lvl4pPr>
            <a:lvl5pPr>
              <a:defRPr sz="1275" b="0">
                <a:solidFill>
                  <a:srgbClr val="5B677A"/>
                </a:solidFill>
              </a:defRPr>
            </a:lvl5pPr>
            <a:lvl6pPr>
              <a:defRPr sz="1275" b="0">
                <a:solidFill>
                  <a:srgbClr val="5B677A"/>
                </a:solidFill>
              </a:defRPr>
            </a:lvl6pPr>
            <a:lvl7pPr>
              <a:defRPr sz="1275" b="0">
                <a:solidFill>
                  <a:srgbClr val="5B677A"/>
                </a:solidFill>
              </a:defRPr>
            </a:lvl7pPr>
            <a:lvl8pPr>
              <a:defRPr sz="1275" b="0">
                <a:solidFill>
                  <a:srgbClr val="5B677A"/>
                </a:solidFill>
              </a:defRPr>
            </a:lvl8pPr>
            <a:lvl9pPr>
              <a:defRPr sz="1275" b="0">
                <a:solidFill>
                  <a:srgbClr val="5B677A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Application after the Azure upgrade, October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535A2D-4D90-4302-8463-6BDD0B15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742708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938F5D-6CAA-4642-B21E-E48A3B78B6B9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496300" y="3838575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C85"/>
            </a:solidFill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DB83CF-FBDB-4C96-B9EF-CFF4D0416A4E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600700" y="3838575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C85"/>
            </a:solidFill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6F0EFB-C12C-4ECE-86B8-871BDE741C28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705100" y="3838575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C85"/>
            </a:solidFill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AB5527-9233-47C1-B7B1-A05FCCD798EB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496300" y="2124075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C85"/>
            </a:solidFill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9C8A0E-0C18-4C38-AE65-1082109ED8A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600700" y="2124075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C85"/>
            </a:solidFill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24AE5-C501-49B0-8BCE-2B5F93B27324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705100" y="2124075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C85"/>
            </a:solidFill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F1D50A-C919-4051-BDD8-6B48E30E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Application and delivery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1CF98-BACE-4224-A6C4-29A04A06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172B4D"/>
                </a:solidFill>
              </a:defRPr>
            </a:defPPr>
            <a:lvl1pPr>
              <a:defRPr sz="1950" b="1">
                <a:solidFill>
                  <a:srgbClr val="172B4D"/>
                </a:solidFill>
              </a:defRPr>
            </a:lvl1pPr>
            <a:lvl2pPr>
              <a:defRPr sz="1950" b="1">
                <a:solidFill>
                  <a:srgbClr val="172B4D"/>
                </a:solidFill>
              </a:defRPr>
            </a:lvl2pPr>
            <a:lvl3pPr>
              <a:defRPr sz="1950" b="1">
                <a:solidFill>
                  <a:srgbClr val="172B4D"/>
                </a:solidFill>
              </a:defRPr>
            </a:lvl3pPr>
            <a:lvl4pPr>
              <a:defRPr sz="1950" b="1">
                <a:solidFill>
                  <a:srgbClr val="172B4D"/>
                </a:solidFill>
              </a:defRPr>
            </a:lvl4pPr>
            <a:lvl5pPr>
              <a:defRPr sz="1950" b="1">
                <a:solidFill>
                  <a:srgbClr val="172B4D"/>
                </a:solidFill>
              </a:defRPr>
            </a:lvl5pPr>
            <a:lvl6pPr>
              <a:defRPr sz="1950" b="1">
                <a:solidFill>
                  <a:srgbClr val="172B4D"/>
                </a:solidFill>
              </a:defRPr>
            </a:lvl6pPr>
            <a:lvl7pPr>
              <a:defRPr sz="1950" b="1">
                <a:solidFill>
                  <a:srgbClr val="172B4D"/>
                </a:solidFill>
              </a:defRPr>
            </a:lvl7pPr>
            <a:lvl8pPr>
              <a:defRPr sz="1950" b="1">
                <a:solidFill>
                  <a:srgbClr val="172B4D"/>
                </a:solidFill>
              </a:defRPr>
            </a:lvl8pPr>
            <a:lvl9pPr>
              <a:defRPr sz="195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B4D"/>
                </a:solidFill>
              </a:defRPr>
            </a:pPr>
            <a:r>
              <a:rPr sz="1950" b="1">
                <a:solidFill>
                  <a:srgbClr val="172B4D"/>
                </a:solidFill>
              </a:rPr>
              <a:t>Release delivery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60D984-A337-4007-8D9B-288A1DD1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219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93A4B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72B4D"/>
                </a:solidFill>
              </a:defRPr>
            </a:defPPr>
            <a:lvl1pPr algn="ctr">
              <a:defRPr sz="1800">
                <a:solidFill>
                  <a:srgbClr val="172B4D"/>
                </a:solidFill>
              </a:defRPr>
            </a:lvl1pPr>
            <a:lvl2pPr algn="ctr">
              <a:defRPr sz="1800">
                <a:solidFill>
                  <a:srgbClr val="172B4D"/>
                </a:solidFill>
              </a:defRPr>
            </a:lvl2pPr>
            <a:lvl3pPr algn="ctr">
              <a:defRPr sz="1800">
                <a:solidFill>
                  <a:srgbClr val="172B4D"/>
                </a:solidFill>
              </a:defRPr>
            </a:lvl3pPr>
            <a:lvl4pPr algn="ctr">
              <a:defRPr sz="1800">
                <a:solidFill>
                  <a:srgbClr val="172B4D"/>
                </a:solidFill>
              </a:defRPr>
            </a:lvl4pPr>
            <a:lvl5pPr algn="ctr">
              <a:defRPr sz="1800">
                <a:solidFill>
                  <a:srgbClr val="172B4D"/>
                </a:solidFill>
              </a:defRPr>
            </a:lvl5pPr>
            <a:lvl6pPr algn="ctr">
              <a:defRPr sz="1800">
                <a:solidFill>
                  <a:srgbClr val="172B4D"/>
                </a:solidFill>
              </a:defRPr>
            </a:lvl6pPr>
            <a:lvl7pPr algn="ctr">
              <a:defRPr sz="1800">
                <a:solidFill>
                  <a:srgbClr val="172B4D"/>
                </a:solidFill>
              </a:defRPr>
            </a:lvl7pPr>
            <a:lvl8pPr algn="ctr">
              <a:defRPr sz="1800">
                <a:solidFill>
                  <a:srgbClr val="172B4D"/>
                </a:solidFill>
              </a:defRPr>
            </a:lvl8pPr>
            <a:lvl9pPr algn="ctr">
              <a:defRPr sz="180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72B4D"/>
                </a:solidFill>
              </a:defRPr>
            </a:pPr>
            <a:r>
              <a:rPr sz="1800">
                <a:solidFill>
                  <a:srgbClr val="172B4D"/>
                </a:solidFill>
              </a:rPr>
              <a:t>GitHub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2C84B4-C4B1-44CB-8BA5-2AB29EA1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9750"/>
            <a:ext cx="219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93A4B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72B4D"/>
                </a:solidFill>
              </a:defRPr>
            </a:defPPr>
            <a:lvl1pPr algn="ctr">
              <a:defRPr sz="1800">
                <a:solidFill>
                  <a:srgbClr val="172B4D"/>
                </a:solidFill>
              </a:defRPr>
            </a:lvl1pPr>
            <a:lvl2pPr algn="ctr">
              <a:defRPr sz="1800">
                <a:solidFill>
                  <a:srgbClr val="172B4D"/>
                </a:solidFill>
              </a:defRPr>
            </a:lvl2pPr>
            <a:lvl3pPr algn="ctr">
              <a:defRPr sz="1800">
                <a:solidFill>
                  <a:srgbClr val="172B4D"/>
                </a:solidFill>
              </a:defRPr>
            </a:lvl3pPr>
            <a:lvl4pPr algn="ctr">
              <a:defRPr sz="1800">
                <a:solidFill>
                  <a:srgbClr val="172B4D"/>
                </a:solidFill>
              </a:defRPr>
            </a:lvl4pPr>
            <a:lvl5pPr algn="ctr">
              <a:defRPr sz="1800">
                <a:solidFill>
                  <a:srgbClr val="172B4D"/>
                </a:solidFill>
              </a:defRPr>
            </a:lvl5pPr>
            <a:lvl6pPr algn="ctr">
              <a:defRPr sz="1800">
                <a:solidFill>
                  <a:srgbClr val="172B4D"/>
                </a:solidFill>
              </a:defRPr>
            </a:lvl6pPr>
            <a:lvl7pPr algn="ctr">
              <a:defRPr sz="1800">
                <a:solidFill>
                  <a:srgbClr val="172B4D"/>
                </a:solidFill>
              </a:defRPr>
            </a:lvl7pPr>
            <a:lvl8pPr algn="ctr">
              <a:defRPr sz="1800">
                <a:solidFill>
                  <a:srgbClr val="172B4D"/>
                </a:solidFill>
              </a:defRPr>
            </a:lvl8pPr>
            <a:lvl9pPr algn="ctr">
              <a:defRPr sz="180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72B4D"/>
                </a:solidFill>
              </a:defRPr>
            </a:pPr>
            <a:r>
              <a:rPr sz="1800">
                <a:solidFill>
                  <a:srgbClr val="172B4D"/>
                </a:solidFill>
              </a:rPr>
              <a:t>Actions +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D603AC-453E-4F3E-962F-56DDCFF4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09750"/>
            <a:ext cx="219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93A4B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72B4D"/>
                </a:solidFill>
              </a:defRPr>
            </a:defPPr>
            <a:lvl1pPr algn="ctr">
              <a:defRPr sz="1800">
                <a:solidFill>
                  <a:srgbClr val="172B4D"/>
                </a:solidFill>
              </a:defRPr>
            </a:lvl1pPr>
            <a:lvl2pPr algn="ctr">
              <a:defRPr sz="1800">
                <a:solidFill>
                  <a:srgbClr val="172B4D"/>
                </a:solidFill>
              </a:defRPr>
            </a:lvl2pPr>
            <a:lvl3pPr algn="ctr">
              <a:defRPr sz="1800">
                <a:solidFill>
                  <a:srgbClr val="172B4D"/>
                </a:solidFill>
              </a:defRPr>
            </a:lvl3pPr>
            <a:lvl4pPr algn="ctr">
              <a:defRPr sz="1800">
                <a:solidFill>
                  <a:srgbClr val="172B4D"/>
                </a:solidFill>
              </a:defRPr>
            </a:lvl4pPr>
            <a:lvl5pPr algn="ctr">
              <a:defRPr sz="1800">
                <a:solidFill>
                  <a:srgbClr val="172B4D"/>
                </a:solidFill>
              </a:defRPr>
            </a:lvl5pPr>
            <a:lvl6pPr algn="ctr">
              <a:defRPr sz="1800">
                <a:solidFill>
                  <a:srgbClr val="172B4D"/>
                </a:solidFill>
              </a:defRPr>
            </a:lvl6pPr>
            <a:lvl7pPr algn="ctr">
              <a:defRPr sz="1800">
                <a:solidFill>
                  <a:srgbClr val="172B4D"/>
                </a:solidFill>
              </a:defRPr>
            </a:lvl7pPr>
            <a:lvl8pPr algn="ctr">
              <a:defRPr sz="1800">
                <a:solidFill>
                  <a:srgbClr val="172B4D"/>
                </a:solidFill>
              </a:defRPr>
            </a:lvl8pPr>
            <a:lvl9pPr algn="ctr">
              <a:defRPr sz="180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72B4D"/>
                </a:solidFill>
              </a:defRPr>
            </a:pPr>
            <a:r>
              <a:rPr sz="1800">
                <a:solidFill>
                  <a:srgbClr val="172B4D"/>
                </a:solidFill>
              </a:rPr>
              <a:t>GHCR images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FC97A8-AB07-4CE2-B556-F6E90837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809750"/>
            <a:ext cx="219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93A4B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72B4D"/>
                </a:solidFill>
              </a:defRPr>
            </a:defPPr>
            <a:lvl1pPr algn="ctr">
              <a:defRPr sz="1800">
                <a:solidFill>
                  <a:srgbClr val="172B4D"/>
                </a:solidFill>
              </a:defRPr>
            </a:lvl1pPr>
            <a:lvl2pPr algn="ctr">
              <a:defRPr sz="1800">
                <a:solidFill>
                  <a:srgbClr val="172B4D"/>
                </a:solidFill>
              </a:defRPr>
            </a:lvl2pPr>
            <a:lvl3pPr algn="ctr">
              <a:defRPr sz="1800">
                <a:solidFill>
                  <a:srgbClr val="172B4D"/>
                </a:solidFill>
              </a:defRPr>
            </a:lvl3pPr>
            <a:lvl4pPr algn="ctr">
              <a:defRPr sz="1800">
                <a:solidFill>
                  <a:srgbClr val="172B4D"/>
                </a:solidFill>
              </a:defRPr>
            </a:lvl4pPr>
            <a:lvl5pPr algn="ctr">
              <a:defRPr sz="1800">
                <a:solidFill>
                  <a:srgbClr val="172B4D"/>
                </a:solidFill>
              </a:defRPr>
            </a:lvl5pPr>
            <a:lvl6pPr algn="ctr">
              <a:defRPr sz="1800">
                <a:solidFill>
                  <a:srgbClr val="172B4D"/>
                </a:solidFill>
              </a:defRPr>
            </a:lvl6pPr>
            <a:lvl7pPr algn="ctr">
              <a:defRPr sz="1800">
                <a:solidFill>
                  <a:srgbClr val="172B4D"/>
                </a:solidFill>
              </a:defRPr>
            </a:lvl7pPr>
            <a:lvl8pPr algn="ctr">
              <a:defRPr sz="1800">
                <a:solidFill>
                  <a:srgbClr val="172B4D"/>
                </a:solidFill>
              </a:defRPr>
            </a:lvl8pPr>
            <a:lvl9pPr algn="ctr">
              <a:defRPr sz="180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72B4D"/>
                </a:solidFill>
              </a:defRPr>
            </a:pPr>
            <a:r>
              <a:rPr sz="1800">
                <a:solidFill>
                  <a:srgbClr val="172B4D"/>
                </a:solidFill>
              </a:rPr>
              <a:t>Helm on K3s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7814D4-3710-4762-8F95-018DD6C4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003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172B4D"/>
                </a:solidFill>
              </a:defRPr>
            </a:defPPr>
            <a:lvl1pPr>
              <a:defRPr sz="1950" b="1">
                <a:solidFill>
                  <a:srgbClr val="172B4D"/>
                </a:solidFill>
              </a:defRPr>
            </a:lvl1pPr>
            <a:lvl2pPr>
              <a:defRPr sz="1950" b="1">
                <a:solidFill>
                  <a:srgbClr val="172B4D"/>
                </a:solidFill>
              </a:defRPr>
            </a:lvl2pPr>
            <a:lvl3pPr>
              <a:defRPr sz="1950" b="1">
                <a:solidFill>
                  <a:srgbClr val="172B4D"/>
                </a:solidFill>
              </a:defRPr>
            </a:lvl3pPr>
            <a:lvl4pPr>
              <a:defRPr sz="1950" b="1">
                <a:solidFill>
                  <a:srgbClr val="172B4D"/>
                </a:solidFill>
              </a:defRPr>
            </a:lvl4pPr>
            <a:lvl5pPr>
              <a:defRPr sz="1950" b="1">
                <a:solidFill>
                  <a:srgbClr val="172B4D"/>
                </a:solidFill>
              </a:defRPr>
            </a:lvl5pPr>
            <a:lvl6pPr>
              <a:defRPr sz="1950" b="1">
                <a:solidFill>
                  <a:srgbClr val="172B4D"/>
                </a:solidFill>
              </a:defRPr>
            </a:lvl6pPr>
            <a:lvl7pPr>
              <a:defRPr sz="1950" b="1">
                <a:solidFill>
                  <a:srgbClr val="172B4D"/>
                </a:solidFill>
              </a:defRPr>
            </a:lvl7pPr>
            <a:lvl8pPr>
              <a:defRPr sz="1950" b="1">
                <a:solidFill>
                  <a:srgbClr val="172B4D"/>
                </a:solidFill>
              </a:defRPr>
            </a:lvl8pPr>
            <a:lvl9pPr>
              <a:defRPr sz="195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B4D"/>
                </a:solidFill>
              </a:defRPr>
            </a:pPr>
            <a:r>
              <a:rPr sz="1950" b="1">
                <a:solidFill>
                  <a:srgbClr val="172B4D"/>
                </a:solidFill>
              </a:rPr>
              <a:t>Application requests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FA9206-3D34-444E-933E-504559F2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219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93A4B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72B4D"/>
                </a:solidFill>
              </a:defRPr>
            </a:defPPr>
            <a:lvl1pPr algn="ctr">
              <a:defRPr sz="1800">
                <a:solidFill>
                  <a:srgbClr val="172B4D"/>
                </a:solidFill>
              </a:defRPr>
            </a:lvl1pPr>
            <a:lvl2pPr algn="ctr">
              <a:defRPr sz="1800">
                <a:solidFill>
                  <a:srgbClr val="172B4D"/>
                </a:solidFill>
              </a:defRPr>
            </a:lvl2pPr>
            <a:lvl3pPr algn="ctr">
              <a:defRPr sz="1800">
                <a:solidFill>
                  <a:srgbClr val="172B4D"/>
                </a:solidFill>
              </a:defRPr>
            </a:lvl3pPr>
            <a:lvl4pPr algn="ctr">
              <a:defRPr sz="1800">
                <a:solidFill>
                  <a:srgbClr val="172B4D"/>
                </a:solidFill>
              </a:defRPr>
            </a:lvl4pPr>
            <a:lvl5pPr algn="ctr">
              <a:defRPr sz="1800">
                <a:solidFill>
                  <a:srgbClr val="172B4D"/>
                </a:solidFill>
              </a:defRPr>
            </a:lvl5pPr>
            <a:lvl6pPr algn="ctr">
              <a:defRPr sz="1800">
                <a:solidFill>
                  <a:srgbClr val="172B4D"/>
                </a:solidFill>
              </a:defRPr>
            </a:lvl6pPr>
            <a:lvl7pPr algn="ctr">
              <a:defRPr sz="1800">
                <a:solidFill>
                  <a:srgbClr val="172B4D"/>
                </a:solidFill>
              </a:defRPr>
            </a:lvl7pPr>
            <a:lvl8pPr algn="ctr">
              <a:defRPr sz="1800">
                <a:solidFill>
                  <a:srgbClr val="172B4D"/>
                </a:solidFill>
              </a:defRPr>
            </a:lvl8pPr>
            <a:lvl9pPr algn="ctr">
              <a:defRPr sz="180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72B4D"/>
                </a:solidFill>
              </a:defRPr>
            </a:pPr>
            <a:r>
              <a:rPr sz="1800">
                <a:solidFill>
                  <a:srgbClr val="172B4D"/>
                </a:solidFill>
              </a:rPr>
              <a:t>Browser + Ingress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E80F28-5CAD-490E-BDAB-3303FAAA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24250"/>
            <a:ext cx="219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93A4B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72B4D"/>
                </a:solidFill>
              </a:defRPr>
            </a:defPPr>
            <a:lvl1pPr algn="ctr">
              <a:defRPr sz="1800">
                <a:solidFill>
                  <a:srgbClr val="172B4D"/>
                </a:solidFill>
              </a:defRPr>
            </a:lvl1pPr>
            <a:lvl2pPr algn="ctr">
              <a:defRPr sz="1800">
                <a:solidFill>
                  <a:srgbClr val="172B4D"/>
                </a:solidFill>
              </a:defRPr>
            </a:lvl2pPr>
            <a:lvl3pPr algn="ctr">
              <a:defRPr sz="1800">
                <a:solidFill>
                  <a:srgbClr val="172B4D"/>
                </a:solidFill>
              </a:defRPr>
            </a:lvl3pPr>
            <a:lvl4pPr algn="ctr">
              <a:defRPr sz="1800">
                <a:solidFill>
                  <a:srgbClr val="172B4D"/>
                </a:solidFill>
              </a:defRPr>
            </a:lvl4pPr>
            <a:lvl5pPr algn="ctr">
              <a:defRPr sz="1800">
                <a:solidFill>
                  <a:srgbClr val="172B4D"/>
                </a:solidFill>
              </a:defRPr>
            </a:lvl5pPr>
            <a:lvl6pPr algn="ctr">
              <a:defRPr sz="1800">
                <a:solidFill>
                  <a:srgbClr val="172B4D"/>
                </a:solidFill>
              </a:defRPr>
            </a:lvl6pPr>
            <a:lvl7pPr algn="ctr">
              <a:defRPr sz="1800">
                <a:solidFill>
                  <a:srgbClr val="172B4D"/>
                </a:solidFill>
              </a:defRPr>
            </a:lvl7pPr>
            <a:lvl8pPr algn="ctr">
              <a:defRPr sz="1800">
                <a:solidFill>
                  <a:srgbClr val="172B4D"/>
                </a:solidFill>
              </a:defRPr>
            </a:lvl8pPr>
            <a:lvl9pPr algn="ctr">
              <a:defRPr sz="180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72B4D"/>
                </a:solidFill>
              </a:defRPr>
            </a:pPr>
            <a:r>
              <a:rPr sz="1800">
                <a:solidFill>
                  <a:srgbClr val="172B4D"/>
                </a:solidFill>
              </a:rPr>
              <a:t>React / Nginx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00502-421D-4EBE-85A8-487DD48D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24250"/>
            <a:ext cx="219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93A4B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72B4D"/>
                </a:solidFill>
              </a:defRPr>
            </a:defPPr>
            <a:lvl1pPr algn="ctr">
              <a:defRPr sz="1800">
                <a:solidFill>
                  <a:srgbClr val="172B4D"/>
                </a:solidFill>
              </a:defRPr>
            </a:lvl1pPr>
            <a:lvl2pPr algn="ctr">
              <a:defRPr sz="1800">
                <a:solidFill>
                  <a:srgbClr val="172B4D"/>
                </a:solidFill>
              </a:defRPr>
            </a:lvl2pPr>
            <a:lvl3pPr algn="ctr">
              <a:defRPr sz="1800">
                <a:solidFill>
                  <a:srgbClr val="172B4D"/>
                </a:solidFill>
              </a:defRPr>
            </a:lvl3pPr>
            <a:lvl4pPr algn="ctr">
              <a:defRPr sz="1800">
                <a:solidFill>
                  <a:srgbClr val="172B4D"/>
                </a:solidFill>
              </a:defRPr>
            </a:lvl4pPr>
            <a:lvl5pPr algn="ctr">
              <a:defRPr sz="1800">
                <a:solidFill>
                  <a:srgbClr val="172B4D"/>
                </a:solidFill>
              </a:defRPr>
            </a:lvl5pPr>
            <a:lvl6pPr algn="ctr">
              <a:defRPr sz="1800">
                <a:solidFill>
                  <a:srgbClr val="172B4D"/>
                </a:solidFill>
              </a:defRPr>
            </a:lvl6pPr>
            <a:lvl7pPr algn="ctr">
              <a:defRPr sz="1800">
                <a:solidFill>
                  <a:srgbClr val="172B4D"/>
                </a:solidFill>
              </a:defRPr>
            </a:lvl7pPr>
            <a:lvl8pPr algn="ctr">
              <a:defRPr sz="1800">
                <a:solidFill>
                  <a:srgbClr val="172B4D"/>
                </a:solidFill>
              </a:defRPr>
            </a:lvl8pPr>
            <a:lvl9pPr algn="ctr">
              <a:defRPr sz="180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72B4D"/>
                </a:solidFill>
              </a:defRPr>
            </a:pPr>
            <a:r>
              <a:rPr sz="1800">
                <a:solidFill>
                  <a:srgbClr val="172B4D"/>
                </a:solidFill>
              </a:rPr>
              <a:t>FastAPI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BE16FA-E6EC-48FF-A042-B1D54299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524250"/>
            <a:ext cx="219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93A4B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72B4D"/>
                </a:solidFill>
              </a:defRPr>
            </a:defPPr>
            <a:lvl1pPr algn="ctr">
              <a:defRPr sz="1800">
                <a:solidFill>
                  <a:srgbClr val="172B4D"/>
                </a:solidFill>
              </a:defRPr>
            </a:lvl1pPr>
            <a:lvl2pPr algn="ctr">
              <a:defRPr sz="1800">
                <a:solidFill>
                  <a:srgbClr val="172B4D"/>
                </a:solidFill>
              </a:defRPr>
            </a:lvl2pPr>
            <a:lvl3pPr algn="ctr">
              <a:defRPr sz="1800">
                <a:solidFill>
                  <a:srgbClr val="172B4D"/>
                </a:solidFill>
              </a:defRPr>
            </a:lvl3pPr>
            <a:lvl4pPr algn="ctr">
              <a:defRPr sz="1800">
                <a:solidFill>
                  <a:srgbClr val="172B4D"/>
                </a:solidFill>
              </a:defRPr>
            </a:lvl4pPr>
            <a:lvl5pPr algn="ctr">
              <a:defRPr sz="1800">
                <a:solidFill>
                  <a:srgbClr val="172B4D"/>
                </a:solidFill>
              </a:defRPr>
            </a:lvl5pPr>
            <a:lvl6pPr algn="ctr">
              <a:defRPr sz="1800">
                <a:solidFill>
                  <a:srgbClr val="172B4D"/>
                </a:solidFill>
              </a:defRPr>
            </a:lvl6pPr>
            <a:lvl7pPr algn="ctr">
              <a:defRPr sz="1800">
                <a:solidFill>
                  <a:srgbClr val="172B4D"/>
                </a:solidFill>
              </a:defRPr>
            </a:lvl7pPr>
            <a:lvl8pPr algn="ctr">
              <a:defRPr sz="1800">
                <a:solidFill>
                  <a:srgbClr val="172B4D"/>
                </a:solidFill>
              </a:defRPr>
            </a:lvl8pPr>
            <a:lvl9pPr algn="ctr">
              <a:defRPr sz="180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72B4D"/>
                </a:solidFill>
              </a:defRPr>
            </a:pPr>
            <a:r>
              <a:rPr sz="1800">
                <a:solidFill>
                  <a:srgbClr val="172B4D"/>
                </a:solidFill>
              </a:rPr>
              <a:t>PostgreSQL PVC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FAF2F3-EB2F-4275-8371-F8B147B9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625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2B4D"/>
                </a:solidFill>
              </a:defRPr>
            </a:defPPr>
            <a:lvl1pPr>
              <a:defRPr sz="1950" b="0">
                <a:solidFill>
                  <a:srgbClr val="172B4D"/>
                </a:solidFill>
              </a:defRPr>
            </a:lvl1pPr>
            <a:lvl2pPr>
              <a:defRPr sz="1950" b="0">
                <a:solidFill>
                  <a:srgbClr val="172B4D"/>
                </a:solidFill>
              </a:defRPr>
            </a:lvl2pPr>
            <a:lvl3pPr>
              <a:defRPr sz="1950" b="0">
                <a:solidFill>
                  <a:srgbClr val="172B4D"/>
                </a:solidFill>
              </a:defRPr>
            </a:lvl3pPr>
            <a:lvl4pPr>
              <a:defRPr sz="1950" b="0">
                <a:solidFill>
                  <a:srgbClr val="172B4D"/>
                </a:solidFill>
              </a:defRPr>
            </a:lvl4pPr>
            <a:lvl5pPr>
              <a:defRPr sz="1950" b="0">
                <a:solidFill>
                  <a:srgbClr val="172B4D"/>
                </a:solidFill>
              </a:defRPr>
            </a:lvl5pPr>
            <a:lvl6pPr>
              <a:defRPr sz="1950" b="0">
                <a:solidFill>
                  <a:srgbClr val="172B4D"/>
                </a:solidFill>
              </a:defRPr>
            </a:lvl6pPr>
            <a:lvl7pPr>
              <a:defRPr sz="1950" b="0">
                <a:solidFill>
                  <a:srgbClr val="172B4D"/>
                </a:solidFill>
              </a:defRPr>
            </a:lvl7pPr>
            <a:lvl8pPr>
              <a:defRPr sz="1950" b="0">
                <a:solidFill>
                  <a:srgbClr val="172B4D"/>
                </a:solidFill>
              </a:defRPr>
            </a:lvl8pPr>
            <a:lvl9pPr>
              <a:defRPr sz="19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2B4D"/>
                </a:solidFill>
              </a:defRPr>
            </a:pPr>
            <a:r>
              <a:rPr sz="1950" b="0">
                <a:solidFill>
                  <a:srgbClr val="172B4D"/>
                </a:solidFill>
              </a:rPr>
              <a:t>Terraform provisions the Azure VM and network. CI verifies the chart in Kind.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EFC789-2813-4F6A-BAC2-8E5E1E3C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67375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2B4D"/>
                </a:solidFill>
              </a:defRPr>
            </a:defPPr>
            <a:lvl1pPr>
              <a:defRPr sz="1950" b="0">
                <a:solidFill>
                  <a:srgbClr val="172B4D"/>
                </a:solidFill>
              </a:defRPr>
            </a:lvl1pPr>
            <a:lvl2pPr>
              <a:defRPr sz="1950" b="0">
                <a:solidFill>
                  <a:srgbClr val="172B4D"/>
                </a:solidFill>
              </a:defRPr>
            </a:lvl2pPr>
            <a:lvl3pPr>
              <a:defRPr sz="1950" b="0">
                <a:solidFill>
                  <a:srgbClr val="172B4D"/>
                </a:solidFill>
              </a:defRPr>
            </a:lvl3pPr>
            <a:lvl4pPr>
              <a:defRPr sz="1950" b="0">
                <a:solidFill>
                  <a:srgbClr val="172B4D"/>
                </a:solidFill>
              </a:defRPr>
            </a:lvl4pPr>
            <a:lvl5pPr>
              <a:defRPr sz="1950" b="0">
                <a:solidFill>
                  <a:srgbClr val="172B4D"/>
                </a:solidFill>
              </a:defRPr>
            </a:lvl5pPr>
            <a:lvl6pPr>
              <a:defRPr sz="1950" b="0">
                <a:solidFill>
                  <a:srgbClr val="172B4D"/>
                </a:solidFill>
              </a:defRPr>
            </a:lvl6pPr>
            <a:lvl7pPr>
              <a:defRPr sz="1950" b="0">
                <a:solidFill>
                  <a:srgbClr val="172B4D"/>
                </a:solidFill>
              </a:defRPr>
            </a:lvl7pPr>
            <a:lvl8pPr>
              <a:defRPr sz="1950" b="0">
                <a:solidFill>
                  <a:srgbClr val="172B4D"/>
                </a:solidFill>
              </a:defRPr>
            </a:lvl8pPr>
            <a:lvl9pPr>
              <a:defRPr sz="19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2B4D"/>
                </a:solidFill>
              </a:defRPr>
            </a:pPr>
            <a:r>
              <a:rPr sz="1950" b="0">
                <a:solidFill>
                  <a:srgbClr val="172B4D"/>
                </a:solidFill>
              </a:rPr>
              <a:t>Prometheus scrapes FastAPI metrics. Grafana displays the results.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9CE5B3-8A26-4F37-8F1A-7BFF1D08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86355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B483C7-CC7F-4A47-832F-37AD2F6A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API and database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806EB-D131-40A3-91C0-2BFB4F32CE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819abf8e134848"/>
          <a:stretch xmlns:a="http://schemas.openxmlformats.org/drawingml/2006/main"/>
        </p:blipFill>
        <p:spPr>
          <a:xfrm xmlns:a="http://schemas.openxmlformats.org/drawingml/2006/main">
            <a:off x="514350" y="1403640"/>
            <a:ext cx="7810500" cy="457459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949FC1-9164-41E9-931A-F10215D7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524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CRUD endpoints manage assignments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D4A69E-7619-4E04-AF4B-9ED6168D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95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Swagger documents the API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3C7707-BE28-4DA1-B9CA-875CC895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671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Alembic versions database changes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6C11DD-AE33-432E-9347-289D6D63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386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PostgreSQL retained data through the upgrade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268158-1AF5-4ADC-A17C-BAA4A9CE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77A"/>
                </a:solidFill>
              </a:defRPr>
            </a:defPPr>
            <a:lvl1pPr>
              <a:defRPr sz="1275" b="0">
                <a:solidFill>
                  <a:srgbClr val="5B677A"/>
                </a:solidFill>
              </a:defRPr>
            </a:lvl1pPr>
            <a:lvl2pPr>
              <a:defRPr sz="1275" b="0">
                <a:solidFill>
                  <a:srgbClr val="5B677A"/>
                </a:solidFill>
              </a:defRPr>
            </a:lvl2pPr>
            <a:lvl3pPr>
              <a:defRPr sz="1275" b="0">
                <a:solidFill>
                  <a:srgbClr val="5B677A"/>
                </a:solidFill>
              </a:defRPr>
            </a:lvl3pPr>
            <a:lvl4pPr>
              <a:defRPr sz="1275" b="0">
                <a:solidFill>
                  <a:srgbClr val="5B677A"/>
                </a:solidFill>
              </a:defRPr>
            </a:lvl4pPr>
            <a:lvl5pPr>
              <a:defRPr sz="1275" b="0">
                <a:solidFill>
                  <a:srgbClr val="5B677A"/>
                </a:solidFill>
              </a:defRPr>
            </a:lvl5pPr>
            <a:lvl6pPr>
              <a:defRPr sz="1275" b="0">
                <a:solidFill>
                  <a:srgbClr val="5B677A"/>
                </a:solidFill>
              </a:defRPr>
            </a:lvl6pPr>
            <a:lvl7pPr>
              <a:defRPr sz="1275" b="0">
                <a:solidFill>
                  <a:srgbClr val="5B677A"/>
                </a:solidFill>
              </a:defRPr>
            </a:lvl7pPr>
            <a:lvl8pPr>
              <a:defRPr sz="1275" b="0">
                <a:solidFill>
                  <a:srgbClr val="5B677A"/>
                </a:solidFill>
              </a:defRPr>
            </a:lvl8pPr>
            <a:lvl9pPr>
              <a:defRPr sz="1275" b="0">
                <a:solidFill>
                  <a:srgbClr val="5B677A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Recorded database output viewed in Mac zsh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BEF49-1B08-4A4C-8FC4-850AC1AC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16528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7E662A-A86A-425A-A68A-C495B9F6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Automated tests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15B0C6-0BF8-496E-AFD0-E042DC5617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626d6fff0a44c3"/>
          <a:stretch xmlns:a="http://schemas.openxmlformats.org/drawingml/2006/main"/>
        </p:blipFill>
        <p:spPr>
          <a:xfrm xmlns:a="http://schemas.openxmlformats.org/drawingml/2006/main">
            <a:off x="514350" y="1403640"/>
            <a:ext cx="7810500" cy="457459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C680A-6C5D-4AD9-881C-2DA9998E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524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11 API and migration tests passed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B08195-9DCC-4A92-AE55-048AAD25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95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Tests use an isolated test database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FB2EFC-003C-4044-BE76-2491BBB7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671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Failures stop the 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FB400-69BE-4590-A02B-6E88F64B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386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The run reported one deprecation warning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25E0FA-3906-4A8F-AE63-5034F00C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77A"/>
                </a:solidFill>
              </a:defRPr>
            </a:defPPr>
            <a:lvl1pPr>
              <a:defRPr sz="1275" b="0">
                <a:solidFill>
                  <a:srgbClr val="5B677A"/>
                </a:solidFill>
              </a:defRPr>
            </a:lvl1pPr>
            <a:lvl2pPr>
              <a:defRPr sz="1275" b="0">
                <a:solidFill>
                  <a:srgbClr val="5B677A"/>
                </a:solidFill>
              </a:defRPr>
            </a:lvl2pPr>
            <a:lvl3pPr>
              <a:defRPr sz="1275" b="0">
                <a:solidFill>
                  <a:srgbClr val="5B677A"/>
                </a:solidFill>
              </a:defRPr>
            </a:lvl3pPr>
            <a:lvl4pPr>
              <a:defRPr sz="1275" b="0">
                <a:solidFill>
                  <a:srgbClr val="5B677A"/>
                </a:solidFill>
              </a:defRPr>
            </a:lvl4pPr>
            <a:lvl5pPr>
              <a:defRPr sz="1275" b="0">
                <a:solidFill>
                  <a:srgbClr val="5B677A"/>
                </a:solidFill>
              </a:defRPr>
            </a:lvl5pPr>
            <a:lvl6pPr>
              <a:defRPr sz="1275" b="0">
                <a:solidFill>
                  <a:srgbClr val="5B677A"/>
                </a:solidFill>
              </a:defRPr>
            </a:lvl6pPr>
            <a:lvl7pPr>
              <a:defRPr sz="1275" b="0">
                <a:solidFill>
                  <a:srgbClr val="5B677A"/>
                </a:solidFill>
              </a:defRPr>
            </a:lvl7pPr>
            <a:lvl8pPr>
              <a:defRPr sz="1275" b="0">
                <a:solidFill>
                  <a:srgbClr val="5B677A"/>
                </a:solidFill>
              </a:defRPr>
            </a:lvl8pPr>
            <a:lvl9pPr>
              <a:defRPr sz="1275" b="0">
                <a:solidFill>
                  <a:srgbClr val="5B677A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Local backend test rerun, 17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584882-B654-4AD1-86C5-6FF0A5D4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27969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EC737F-10A9-40B1-8C4A-E32DE91F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Docker and Compose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46BF11-3E79-40F5-85B7-D9AA86FB9B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7ba27bab204f4c"/>
          <a:stretch xmlns:a="http://schemas.openxmlformats.org/drawingml/2006/main"/>
        </p:blipFill>
        <p:spPr>
          <a:xfrm xmlns:a="http://schemas.openxmlformats.org/drawingml/2006/main">
            <a:off x="514350" y="1403640"/>
            <a:ext cx="7810500" cy="457459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0B4E0E-FAE8-4DA7-A932-03D83B39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524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Frontend, backend and PostgreSQL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8B6CC-3A78-416E-B611-55D9073B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95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Multi-stage frontend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6CBE50-4FC5-4768-979E-7234BCAC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671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Both application images run as non-root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1EF90-AF0C-4888-BCEE-904D997F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386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Health checks verify readiness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F503D-0713-4422-9232-A9DB2FB3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77A"/>
                </a:solidFill>
              </a:defRPr>
            </a:defPPr>
            <a:lvl1pPr>
              <a:defRPr sz="1275" b="0">
                <a:solidFill>
                  <a:srgbClr val="5B677A"/>
                </a:solidFill>
              </a:defRPr>
            </a:lvl1pPr>
            <a:lvl2pPr>
              <a:defRPr sz="1275" b="0">
                <a:solidFill>
                  <a:srgbClr val="5B677A"/>
                </a:solidFill>
              </a:defRPr>
            </a:lvl2pPr>
            <a:lvl3pPr>
              <a:defRPr sz="1275" b="0">
                <a:solidFill>
                  <a:srgbClr val="5B677A"/>
                </a:solidFill>
              </a:defRPr>
            </a:lvl3pPr>
            <a:lvl4pPr>
              <a:defRPr sz="1275" b="0">
                <a:solidFill>
                  <a:srgbClr val="5B677A"/>
                </a:solidFill>
              </a:defRPr>
            </a:lvl4pPr>
            <a:lvl5pPr>
              <a:defRPr sz="1275" b="0">
                <a:solidFill>
                  <a:srgbClr val="5B677A"/>
                </a:solidFill>
              </a:defRPr>
            </a:lvl5pPr>
            <a:lvl6pPr>
              <a:defRPr sz="1275" b="0">
                <a:solidFill>
                  <a:srgbClr val="5B677A"/>
                </a:solidFill>
              </a:defRPr>
            </a:lvl6pPr>
            <a:lvl7pPr>
              <a:defRPr sz="1275" b="0">
                <a:solidFill>
                  <a:srgbClr val="5B677A"/>
                </a:solidFill>
              </a:defRPr>
            </a:lvl7pPr>
            <a:lvl8pPr>
              <a:defRPr sz="1275" b="0">
                <a:solidFill>
                  <a:srgbClr val="5B677A"/>
                </a:solidFill>
              </a:defRPr>
            </a:lvl8pPr>
            <a:lvl9pPr>
              <a:defRPr sz="1275" b="0">
                <a:solidFill>
                  <a:srgbClr val="5B677A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Recorded clean Compose verification viewed in Mac zsh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C3BE5E-C946-450A-A607-79873F25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838038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545250-0C27-44A0-B667-7240B5F34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GitHub Actions and image delivery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64B66-A667-43A9-97F3-9F90DFDA6B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4b009e3be24ed1"/>
          <a:stretch xmlns:a="http://schemas.openxmlformats.org/drawingml/2006/main"/>
        </p:blipFill>
        <p:spPr>
          <a:xfrm xmlns:a="http://schemas.openxmlformats.org/drawingml/2006/main">
            <a:off x="1747090" y="1381125"/>
            <a:ext cx="5345021" cy="46196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E29F33-0E1E-4FAB-9DC9-844CECB8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524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Tests and frontend 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C88E66-CEC8-4D03-B18B-3CB1773B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95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Security gates before publication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87F50B-0898-4B8E-890C-C89C0D06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671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Two images published to GHCR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B9BAAE-C22C-49F1-89B0-B775CCCD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386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Commit SHA identifies the image release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3B8B6-9C17-432C-8E8B-9660B71A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77A"/>
                </a:solidFill>
              </a:defRPr>
            </a:defPPr>
            <a:lvl1pPr>
              <a:defRPr sz="1275" b="0">
                <a:solidFill>
                  <a:srgbClr val="5B677A"/>
                </a:solidFill>
              </a:defRPr>
            </a:lvl1pPr>
            <a:lvl2pPr>
              <a:defRPr sz="1275" b="0">
                <a:solidFill>
                  <a:srgbClr val="5B677A"/>
                </a:solidFill>
              </a:defRPr>
            </a:lvl2pPr>
            <a:lvl3pPr>
              <a:defRPr sz="1275" b="0">
                <a:solidFill>
                  <a:srgbClr val="5B677A"/>
                </a:solidFill>
              </a:defRPr>
            </a:lvl3pPr>
            <a:lvl4pPr>
              <a:defRPr sz="1275" b="0">
                <a:solidFill>
                  <a:srgbClr val="5B677A"/>
                </a:solidFill>
              </a:defRPr>
            </a:lvl4pPr>
            <a:lvl5pPr>
              <a:defRPr sz="1275" b="0">
                <a:solidFill>
                  <a:srgbClr val="5B677A"/>
                </a:solidFill>
              </a:defRPr>
            </a:lvl5pPr>
            <a:lvl6pPr>
              <a:defRPr sz="1275" b="0">
                <a:solidFill>
                  <a:srgbClr val="5B677A"/>
                </a:solidFill>
              </a:defRPr>
            </a:lvl6pPr>
            <a:lvl7pPr>
              <a:defRPr sz="1275" b="0">
                <a:solidFill>
                  <a:srgbClr val="5B677A"/>
                </a:solidFill>
              </a:defRPr>
            </a:lvl7pPr>
            <a:lvl8pPr>
              <a:defRPr sz="1275" b="0">
                <a:solidFill>
                  <a:srgbClr val="5B677A"/>
                </a:solidFill>
              </a:defRPr>
            </a:lvl8pPr>
            <a:lvl9pPr>
              <a:defRPr sz="1275" b="0">
                <a:solidFill>
                  <a:srgbClr val="5B677A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Successful application pipeline, run 38812142701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BBDB9A-CAC9-4569-A5B3-FF1B69AD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277569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C77774-63EC-4102-958A-339103BB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Security gates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E4C22-BC1E-442E-880C-9136B426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Bandit checks Python source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03BE2D-38FB-44E9-822F-46E5AC62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pip-audit and npm audit inspect dependencies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CA226-0111-41D2-9770-BAD79DFA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Trivy scans the repository for secrets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7484D-2DF3-4EB3-A7D6-BC2AA66C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52900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Trivy scans both container images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92813A-A7BA-40C9-9A3B-2B00F5AF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HIGH or CRITICAL image findings fail the build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6EFFA8-546C-4166-A8BF-E23057E1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24000"/>
            <a:ext cx="447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The saved release scans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B17EE1-172E-4860-B774-27B35859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76500"/>
            <a:ext cx="447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A clean result covers that scan and dependency set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F1A07D-4CC6-41D0-B21B-5CDA495A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29000"/>
            <a:ext cx="447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New dependency or image changes require another scan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A4142D-8B15-4B03-8BDD-9D5247A1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850388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DE989-7451-4E08-980D-6D6FD5F2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Terraform on Azure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E96D00-6C7F-44E4-A3CB-1400106B51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49fbcffa6449f"/>
          <a:stretch xmlns:a="http://schemas.openxmlformats.org/drawingml/2006/main"/>
        </p:blipFill>
        <p:spPr>
          <a:xfrm xmlns:a="http://schemas.openxmlformats.org/drawingml/2006/main">
            <a:off x="514350" y="1403640"/>
            <a:ext cx="7810500" cy="457459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BC5BD6-EC47-4355-B69D-74601A54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524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VNet, subnet and restricted NSG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E1190-ED02-4F77-8093-2C742264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95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One Standard_B2als_v2 VM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7ACBB1-4FFB-4D78-B7AB-A92D2654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671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K3s runs the Kubernetes workload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47E5BF-D878-45D0-8641-0B1D145B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386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Kubernetes API access uses an SSH tunnel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87C676-F64E-4129-B70B-704EE5CD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77A"/>
                </a:solidFill>
              </a:defRPr>
            </a:defPPr>
            <a:lvl1pPr>
              <a:defRPr sz="1275" b="0">
                <a:solidFill>
                  <a:srgbClr val="5B677A"/>
                </a:solidFill>
              </a:defRPr>
            </a:lvl1pPr>
            <a:lvl2pPr>
              <a:defRPr sz="1275" b="0">
                <a:solidFill>
                  <a:srgbClr val="5B677A"/>
                </a:solidFill>
              </a:defRPr>
            </a:lvl2pPr>
            <a:lvl3pPr>
              <a:defRPr sz="1275" b="0">
                <a:solidFill>
                  <a:srgbClr val="5B677A"/>
                </a:solidFill>
              </a:defRPr>
            </a:lvl3pPr>
            <a:lvl4pPr>
              <a:defRPr sz="1275" b="0">
                <a:solidFill>
                  <a:srgbClr val="5B677A"/>
                </a:solidFill>
              </a:defRPr>
            </a:lvl4pPr>
            <a:lvl5pPr>
              <a:defRPr sz="1275" b="0">
                <a:solidFill>
                  <a:srgbClr val="5B677A"/>
                </a:solidFill>
              </a:defRPr>
            </a:lvl5pPr>
            <a:lvl6pPr>
              <a:defRPr sz="1275" b="0">
                <a:solidFill>
                  <a:srgbClr val="5B677A"/>
                </a:solidFill>
              </a:defRPr>
            </a:lvl6pPr>
            <a:lvl7pPr>
              <a:defRPr sz="1275" b="0">
                <a:solidFill>
                  <a:srgbClr val="5B677A"/>
                </a:solidFill>
              </a:defRPr>
            </a:lvl7pPr>
            <a:lvl8pPr>
              <a:defRPr sz="1275" b="0">
                <a:solidFill>
                  <a:srgbClr val="5B677A"/>
                </a:solidFill>
              </a:defRPr>
            </a:lvl8pPr>
            <a:lvl9pPr>
              <a:defRPr sz="1275" b="0">
                <a:solidFill>
                  <a:srgbClr val="5B677A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Recorded Terraform plan viewed in Mac zsh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3CF6E-760D-44E5-A740-37DCCC60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462101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FEB116-77F5-4C41-94F8-F7299D18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Kubernetes and Helm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F934D-2796-4151-875B-EF5A25E2B9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9c10c68543461d"/>
          <a:stretch xmlns:a="http://schemas.openxmlformats.org/drawingml/2006/main"/>
        </p:blipFill>
        <p:spPr>
          <a:xfrm xmlns:a="http://schemas.openxmlformats.org/drawingml/2006/main">
            <a:off x="514350" y="1403640"/>
            <a:ext cx="7810500" cy="457459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61E122-3152-48D3-84AB-737B66EA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524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Frontend and backend Deployments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FCF05B-D1F1-4E24-8042-835AC5FD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95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ClusterIP Services and Ingress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BDA24A-2224-479C-AD34-4B559EB9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671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ConfigMap, Secret and readiness probes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0F153-9897-491B-9BCF-F297CE73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386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PostgreSQL PVC keeps application 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CE427-10A1-464D-9CC3-F64A78BE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77A"/>
                </a:solidFill>
              </a:defRPr>
            </a:defPPr>
            <a:lvl1pPr>
              <a:defRPr sz="1275" b="0">
                <a:solidFill>
                  <a:srgbClr val="5B677A"/>
                </a:solidFill>
              </a:defRPr>
            </a:lvl1pPr>
            <a:lvl2pPr>
              <a:defRPr sz="1275" b="0">
                <a:solidFill>
                  <a:srgbClr val="5B677A"/>
                </a:solidFill>
              </a:defRPr>
            </a:lvl2pPr>
            <a:lvl3pPr>
              <a:defRPr sz="1275" b="0">
                <a:solidFill>
                  <a:srgbClr val="5B677A"/>
                </a:solidFill>
              </a:defRPr>
            </a:lvl3pPr>
            <a:lvl4pPr>
              <a:defRPr sz="1275" b="0">
                <a:solidFill>
                  <a:srgbClr val="5B677A"/>
                </a:solidFill>
              </a:defRPr>
            </a:lvl4pPr>
            <a:lvl5pPr>
              <a:defRPr sz="1275" b="0">
                <a:solidFill>
                  <a:srgbClr val="5B677A"/>
                </a:solidFill>
              </a:defRPr>
            </a:lvl5pPr>
            <a:lvl6pPr>
              <a:defRPr sz="1275" b="0">
                <a:solidFill>
                  <a:srgbClr val="5B677A"/>
                </a:solidFill>
              </a:defRPr>
            </a:lvl6pPr>
            <a:lvl7pPr>
              <a:defRPr sz="1275" b="0">
                <a:solidFill>
                  <a:srgbClr val="5B677A"/>
                </a:solidFill>
              </a:defRPr>
            </a:lvl7pPr>
            <a:lvl8pPr>
              <a:defRPr sz="1275" b="0">
                <a:solidFill>
                  <a:srgbClr val="5B677A"/>
                </a:solidFill>
              </a:defRPr>
            </a:lvl8pPr>
            <a:lvl9pPr>
              <a:defRPr sz="1275" b="0">
                <a:solidFill>
                  <a:srgbClr val="5B677A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Recorded Pod status viewed in Mac zsh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E29B92-2F4B-455D-B8AF-0A777BB4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4505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1F5A98-B787-4359-B1D4-752A1F29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Autoscaling under load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018DE5-2F91-429E-B916-C435C9934A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03c2b7ef044aaa"/>
          <a:stretch xmlns:a="http://schemas.openxmlformats.org/drawingml/2006/main"/>
        </p:blipFill>
        <p:spPr>
          <a:xfrm xmlns:a="http://schemas.openxmlformats.org/drawingml/2006/main">
            <a:off x="514350" y="1403640"/>
            <a:ext cx="7810500" cy="457459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C85DFE-7BEB-4D79-BBD9-D802DC74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524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HTTP load increases backend CPU 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EA244-3BB4-47CB-B90E-A3F4D394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95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HPA observes CPU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FB5AF5-31FA-4088-90BF-F344C516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671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Backend scaled from 2 to 4 Pods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237E2-3CE5-47E5-BE2D-10CED6A1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386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The load test uses bounded duration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33727E-7808-4877-ACAB-78C2D6E9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77A"/>
                </a:solidFill>
              </a:defRPr>
            </a:defPPr>
            <a:lvl1pPr>
              <a:defRPr sz="1275" b="0">
                <a:solidFill>
                  <a:srgbClr val="5B677A"/>
                </a:solidFill>
              </a:defRPr>
            </a:lvl1pPr>
            <a:lvl2pPr>
              <a:defRPr sz="1275" b="0">
                <a:solidFill>
                  <a:srgbClr val="5B677A"/>
                </a:solidFill>
              </a:defRPr>
            </a:lvl2pPr>
            <a:lvl3pPr>
              <a:defRPr sz="1275" b="0">
                <a:solidFill>
                  <a:srgbClr val="5B677A"/>
                </a:solidFill>
              </a:defRPr>
            </a:lvl3pPr>
            <a:lvl4pPr>
              <a:defRPr sz="1275" b="0">
                <a:solidFill>
                  <a:srgbClr val="5B677A"/>
                </a:solidFill>
              </a:defRPr>
            </a:lvl4pPr>
            <a:lvl5pPr>
              <a:defRPr sz="1275" b="0">
                <a:solidFill>
                  <a:srgbClr val="5B677A"/>
                </a:solidFill>
              </a:defRPr>
            </a:lvl5pPr>
            <a:lvl6pPr>
              <a:defRPr sz="1275" b="0">
                <a:solidFill>
                  <a:srgbClr val="5B677A"/>
                </a:solidFill>
              </a:defRPr>
            </a:lvl6pPr>
            <a:lvl7pPr>
              <a:defRPr sz="1275" b="0">
                <a:solidFill>
                  <a:srgbClr val="5B677A"/>
                </a:solidFill>
              </a:defRPr>
            </a:lvl7pPr>
            <a:lvl8pPr>
              <a:defRPr sz="1275" b="0">
                <a:solidFill>
                  <a:srgbClr val="5B677A"/>
                </a:solidFill>
              </a:defRPr>
            </a:lvl8pPr>
            <a:lvl9pPr>
              <a:defRPr sz="1275" b="0">
                <a:solidFill>
                  <a:srgbClr val="5B677A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Recorded Azure HPA results viewed in Mac zsh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317618-760E-4B0D-8747-D639CEB1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371862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40C236-98C0-45EC-9D76-F8931C6B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Prometheus and Grafana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6943B-62C5-4932-8086-3D27088528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41ed462874048"/>
          <a:stretch xmlns:a="http://schemas.openxmlformats.org/drawingml/2006/main"/>
        </p:blipFill>
        <p:spPr>
          <a:xfrm xmlns:a="http://schemas.openxmlformats.org/drawingml/2006/main">
            <a:off x="826558" y="1381125"/>
            <a:ext cx="7186083" cy="46196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996486-0CCB-424D-9745-B06A69DA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524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FastAPI exposes /metrics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5434FC-29F2-4046-932F-ABA592DA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95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Prometheus scrapes the backend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C69F0-D298-42A2-9A9B-953E997D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671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The target reported 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14218-963F-4B64-89E9-1272D64F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386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Grafana shows application request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61D46-6BD6-4518-A8F2-97F5951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77A"/>
                </a:solidFill>
              </a:defRPr>
            </a:defPPr>
            <a:lvl1pPr>
              <a:defRPr sz="1275" b="0">
                <a:solidFill>
                  <a:srgbClr val="5B677A"/>
                </a:solidFill>
              </a:defRPr>
            </a:lvl1pPr>
            <a:lvl2pPr>
              <a:defRPr sz="1275" b="0">
                <a:solidFill>
                  <a:srgbClr val="5B677A"/>
                </a:solidFill>
              </a:defRPr>
            </a:lvl2pPr>
            <a:lvl3pPr>
              <a:defRPr sz="1275" b="0">
                <a:solidFill>
                  <a:srgbClr val="5B677A"/>
                </a:solidFill>
              </a:defRPr>
            </a:lvl3pPr>
            <a:lvl4pPr>
              <a:defRPr sz="1275" b="0">
                <a:solidFill>
                  <a:srgbClr val="5B677A"/>
                </a:solidFill>
              </a:defRPr>
            </a:lvl4pPr>
            <a:lvl5pPr>
              <a:defRPr sz="1275" b="0">
                <a:solidFill>
                  <a:srgbClr val="5B677A"/>
                </a:solidFill>
              </a:defRPr>
            </a:lvl5pPr>
            <a:lvl6pPr>
              <a:defRPr sz="1275" b="0">
                <a:solidFill>
                  <a:srgbClr val="5B677A"/>
                </a:solidFill>
              </a:defRPr>
            </a:lvl6pPr>
            <a:lvl7pPr>
              <a:defRPr sz="1275" b="0">
                <a:solidFill>
                  <a:srgbClr val="5B677A"/>
                </a:solidFill>
              </a:defRPr>
            </a:lvl7pPr>
            <a:lvl8pPr>
              <a:defRPr sz="1275" b="0">
                <a:solidFill>
                  <a:srgbClr val="5B677A"/>
                </a:solidFill>
              </a:defRPr>
            </a:lvl8pPr>
            <a:lvl9pPr>
              <a:defRPr sz="1275" b="0">
                <a:solidFill>
                  <a:srgbClr val="5B677A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Grafana dashboard during the Azure demonstration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E843D7-3266-4B5D-BF12-7F7D5D33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2517309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1853D6-4F76-4E98-A8C1-FECEFEC4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GitOps reconciliation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2B6A4C-BE59-419B-9EAA-FDE4814829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76adc11bcc4d14"/>
          <a:stretch xmlns:a="http://schemas.openxmlformats.org/drawingml/2006/main"/>
        </p:blipFill>
        <p:spPr>
          <a:xfrm xmlns:a="http://schemas.openxmlformats.org/drawingml/2006/main">
            <a:off x="514350" y="1403640"/>
            <a:ext cx="7810500" cy="457459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497947-C769-4F0E-A72F-D01027BD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524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Git stores the declared configuration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15D6E7-076F-44BA-8727-D4D6E826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95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Argo CD compares desired and live state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88BDED-85B2-48B1-8299-BE505E69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671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The CI exercise changes a replica count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F3945-7D30-4EDE-A5DB-9CBC6897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386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Self-healing restores Synced and Healthy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98FA3-C115-446D-80EF-33865AB2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77A"/>
                </a:solidFill>
              </a:defRPr>
            </a:defPPr>
            <a:lvl1pPr>
              <a:defRPr sz="1275" b="0">
                <a:solidFill>
                  <a:srgbClr val="5B677A"/>
                </a:solidFill>
              </a:defRPr>
            </a:lvl1pPr>
            <a:lvl2pPr>
              <a:defRPr sz="1275" b="0">
                <a:solidFill>
                  <a:srgbClr val="5B677A"/>
                </a:solidFill>
              </a:defRPr>
            </a:lvl2pPr>
            <a:lvl3pPr>
              <a:defRPr sz="1275" b="0">
                <a:solidFill>
                  <a:srgbClr val="5B677A"/>
                </a:solidFill>
              </a:defRPr>
            </a:lvl3pPr>
            <a:lvl4pPr>
              <a:defRPr sz="1275" b="0">
                <a:solidFill>
                  <a:srgbClr val="5B677A"/>
                </a:solidFill>
              </a:defRPr>
            </a:lvl4pPr>
            <a:lvl5pPr>
              <a:defRPr sz="1275" b="0">
                <a:solidFill>
                  <a:srgbClr val="5B677A"/>
                </a:solidFill>
              </a:defRPr>
            </a:lvl5pPr>
            <a:lvl6pPr>
              <a:defRPr sz="1275" b="0">
                <a:solidFill>
                  <a:srgbClr val="5B677A"/>
                </a:solidFill>
              </a:defRPr>
            </a:lvl6pPr>
            <a:lvl7pPr>
              <a:defRPr sz="1275" b="0">
                <a:solidFill>
                  <a:srgbClr val="5B677A"/>
                </a:solidFill>
              </a:defRPr>
            </a:lvl7pPr>
            <a:lvl8pPr>
              <a:defRPr sz="1275" b="0">
                <a:solidFill>
                  <a:srgbClr val="5B677A"/>
                </a:solidFill>
              </a:defRPr>
            </a:lvl8pPr>
            <a:lvl9pPr>
              <a:defRPr sz="1275" b="0">
                <a:solidFill>
                  <a:srgbClr val="5B677A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Recorded isolated CI GitOps verification viewed in Mac zsh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225840-EEED-43C1-ABE3-72865E64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302611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570810-DC0E-4F35-97B6-521866F6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Failure investigation and recovery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1753CD-DC3F-416F-9A78-F60F782D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5810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Invalid image tag: inspect Pod events, fix the tag, verify rollout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68F9B2-49BC-48B4-93DC-0E6A3F74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14625"/>
            <a:ext cx="5810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Wrong Service selector: inspect labels and EndpointSlices, restore the selector, test HTTP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BD236B-0CFE-4456-833A-A3071D65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5810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Early HTTP probe: retry for a bounded period while requiring a successful response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FE122-7741-402D-B495-4C48F17F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24000"/>
            <a:ext cx="447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A first standalone recovery check failed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CF0BC-4D37-404F-B3D9-F94CFB7F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76500"/>
            <a:ext cx="447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The corrected check passed in the successful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A0F7EB-431A-4E8F-908B-66C84C21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29000"/>
            <a:ext cx="447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Both the failure and recovery records remain available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6248F6-D9F4-4EE8-9E0E-9A615301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9898021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125072-13EC-4DB0-BB28-60D9868E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Cleanup and project limits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2EC317-9CC4-41D2-BB12-1B86A68FF9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05977bfd64259"/>
          <a:stretch xmlns:a="http://schemas.openxmlformats.org/drawingml/2006/main"/>
        </p:blipFill>
        <p:spPr>
          <a:xfrm xmlns:a="http://schemas.openxmlformats.org/drawingml/2006/main">
            <a:off x="514350" y="1403640"/>
            <a:ext cx="7810500" cy="457459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94368A-4D85-4524-87F5-3BD71305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524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Terraform destroyed all 9 cloud resources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D78FBB-D294-4E35-BA02-DABC6698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95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The saved group-existence check returned false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9B77A7-2293-421A-9DF1-ADC2743B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671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The Azure demo endpoint is no longer hosted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2A6F1B-0E44-40B3-983E-E3DA1046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386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</a:defRPr>
            </a:defPPr>
            <a:lvl1pPr>
              <a:defRPr sz="1875" b="0">
                <a:solidFill>
                  <a:srgbClr val="172B4D"/>
                </a:solidFill>
              </a:defRPr>
            </a:lvl1pPr>
            <a:lvl2pPr>
              <a:defRPr sz="1875" b="0">
                <a:solidFill>
                  <a:srgbClr val="172B4D"/>
                </a:solidFill>
              </a:defRPr>
            </a:lvl2pPr>
            <a:lvl3pPr>
              <a:defRPr sz="1875" b="0">
                <a:solidFill>
                  <a:srgbClr val="172B4D"/>
                </a:solidFill>
              </a:defRPr>
            </a:lvl3pPr>
            <a:lvl4pPr>
              <a:defRPr sz="1875" b="0">
                <a:solidFill>
                  <a:srgbClr val="172B4D"/>
                </a:solidFill>
              </a:defRPr>
            </a:lvl4pPr>
            <a:lvl5pPr>
              <a:defRPr sz="1875" b="0">
                <a:solidFill>
                  <a:srgbClr val="172B4D"/>
                </a:solidFill>
              </a:defRPr>
            </a:lvl5pPr>
            <a:lvl6pPr>
              <a:defRPr sz="1875" b="0">
                <a:solidFill>
                  <a:srgbClr val="172B4D"/>
                </a:solidFill>
              </a:defRPr>
            </a:lvl6pPr>
            <a:lvl7pPr>
              <a:defRPr sz="1875" b="0">
                <a:solidFill>
                  <a:srgbClr val="172B4D"/>
                </a:solidFill>
              </a:defRPr>
            </a:lvl7pPr>
            <a:lvl8pPr>
              <a:defRPr sz="1875" b="0">
                <a:solidFill>
                  <a:srgbClr val="172B4D"/>
                </a:solidFill>
              </a:defRPr>
            </a:lvl8pPr>
            <a:lvl9pPr>
              <a:defRPr sz="18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</a:defRPr>
            </a:pPr>
            <a:r>
              <a:rPr sz="1875" b="0">
                <a:solidFill>
                  <a:srgbClr val="172B4D"/>
                </a:solidFill>
              </a:rPr>
              <a:t>Authentication remains outside this classroom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AC9B38-7A6A-4664-907A-A994349C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77A"/>
                </a:solidFill>
              </a:defRPr>
            </a:defPPr>
            <a:lvl1pPr>
              <a:defRPr sz="1275" b="0">
                <a:solidFill>
                  <a:srgbClr val="5B677A"/>
                </a:solidFill>
              </a:defRPr>
            </a:lvl1pPr>
            <a:lvl2pPr>
              <a:defRPr sz="1275" b="0">
                <a:solidFill>
                  <a:srgbClr val="5B677A"/>
                </a:solidFill>
              </a:defRPr>
            </a:lvl2pPr>
            <a:lvl3pPr>
              <a:defRPr sz="1275" b="0">
                <a:solidFill>
                  <a:srgbClr val="5B677A"/>
                </a:solidFill>
              </a:defRPr>
            </a:lvl3pPr>
            <a:lvl4pPr>
              <a:defRPr sz="1275" b="0">
                <a:solidFill>
                  <a:srgbClr val="5B677A"/>
                </a:solidFill>
              </a:defRPr>
            </a:lvl4pPr>
            <a:lvl5pPr>
              <a:defRPr sz="1275" b="0">
                <a:solidFill>
                  <a:srgbClr val="5B677A"/>
                </a:solidFill>
              </a:defRPr>
            </a:lvl5pPr>
            <a:lvl6pPr>
              <a:defRPr sz="1275" b="0">
                <a:solidFill>
                  <a:srgbClr val="5B677A"/>
                </a:solidFill>
              </a:defRPr>
            </a:lvl6pPr>
            <a:lvl7pPr>
              <a:defRPr sz="1275" b="0">
                <a:solidFill>
                  <a:srgbClr val="5B677A"/>
                </a:solidFill>
              </a:defRPr>
            </a:lvl7pPr>
            <a:lvl8pPr>
              <a:defRPr sz="1275" b="0">
                <a:solidFill>
                  <a:srgbClr val="5B677A"/>
                </a:solidFill>
              </a:defRPr>
            </a:lvl8pPr>
            <a:lvl9pPr>
              <a:defRPr sz="1275" b="0">
                <a:solidFill>
                  <a:srgbClr val="5B677A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Recorded Terraform destroy viewed in Mac zsh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DDAC74-4C48-4F86-86F5-712BE87F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68391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1B968E-5526-4707-9ECE-81402F25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Key learnings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CFD27F-DD76-490C-B97A-3FF99564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B4D"/>
                </a:solidFill>
              </a:defRPr>
            </a:defPPr>
            <a:lvl1pPr>
              <a:defRPr sz="2250" b="0">
                <a:solidFill>
                  <a:srgbClr val="172B4D"/>
                </a:solidFill>
              </a:defRPr>
            </a:lvl1pPr>
            <a:lvl2pPr>
              <a:defRPr sz="2250" b="0">
                <a:solidFill>
                  <a:srgbClr val="172B4D"/>
                </a:solidFill>
              </a:defRPr>
            </a:lvl2pPr>
            <a:lvl3pPr>
              <a:defRPr sz="2250" b="0">
                <a:solidFill>
                  <a:srgbClr val="172B4D"/>
                </a:solidFill>
              </a:defRPr>
            </a:lvl3pPr>
            <a:lvl4pPr>
              <a:defRPr sz="2250" b="0">
                <a:solidFill>
                  <a:srgbClr val="172B4D"/>
                </a:solidFill>
              </a:defRPr>
            </a:lvl4pPr>
            <a:lvl5pPr>
              <a:defRPr sz="2250" b="0">
                <a:solidFill>
                  <a:srgbClr val="172B4D"/>
                </a:solidFill>
              </a:defRPr>
            </a:lvl5pPr>
            <a:lvl6pPr>
              <a:defRPr sz="2250" b="0">
                <a:solidFill>
                  <a:srgbClr val="172B4D"/>
                </a:solidFill>
              </a:defRPr>
            </a:lvl6pPr>
            <a:lvl7pPr>
              <a:defRPr sz="2250" b="0">
                <a:solidFill>
                  <a:srgbClr val="172B4D"/>
                </a:solidFill>
              </a:defRPr>
            </a:lvl7pPr>
            <a:lvl8pPr>
              <a:defRPr sz="2250" b="0">
                <a:solidFill>
                  <a:srgbClr val="172B4D"/>
                </a:solidFill>
              </a:defRPr>
            </a:lvl8pPr>
            <a:lvl9pPr>
              <a:defRPr sz="22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B4D"/>
                </a:solidFill>
              </a:defRPr>
            </a:pPr>
            <a:r>
              <a:rPr sz="2250" b="0">
                <a:solidFill>
                  <a:srgbClr val="172B4D"/>
                </a:solidFill>
              </a:rPr>
              <a:t>Database readiness must come before application traffic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84C3E-5027-42E6-B4E6-A1D6B67E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B4D"/>
                </a:solidFill>
              </a:defRPr>
            </a:defPPr>
            <a:lvl1pPr>
              <a:defRPr sz="2250" b="0">
                <a:solidFill>
                  <a:srgbClr val="172B4D"/>
                </a:solidFill>
              </a:defRPr>
            </a:lvl1pPr>
            <a:lvl2pPr>
              <a:defRPr sz="2250" b="0">
                <a:solidFill>
                  <a:srgbClr val="172B4D"/>
                </a:solidFill>
              </a:defRPr>
            </a:lvl2pPr>
            <a:lvl3pPr>
              <a:defRPr sz="2250" b="0">
                <a:solidFill>
                  <a:srgbClr val="172B4D"/>
                </a:solidFill>
              </a:defRPr>
            </a:lvl3pPr>
            <a:lvl4pPr>
              <a:defRPr sz="2250" b="0">
                <a:solidFill>
                  <a:srgbClr val="172B4D"/>
                </a:solidFill>
              </a:defRPr>
            </a:lvl4pPr>
            <a:lvl5pPr>
              <a:defRPr sz="2250" b="0">
                <a:solidFill>
                  <a:srgbClr val="172B4D"/>
                </a:solidFill>
              </a:defRPr>
            </a:lvl5pPr>
            <a:lvl6pPr>
              <a:defRPr sz="2250" b="0">
                <a:solidFill>
                  <a:srgbClr val="172B4D"/>
                </a:solidFill>
              </a:defRPr>
            </a:lvl6pPr>
            <a:lvl7pPr>
              <a:defRPr sz="2250" b="0">
                <a:solidFill>
                  <a:srgbClr val="172B4D"/>
                </a:solidFill>
              </a:defRPr>
            </a:lvl7pPr>
            <a:lvl8pPr>
              <a:defRPr sz="2250" b="0">
                <a:solidFill>
                  <a:srgbClr val="172B4D"/>
                </a:solidFill>
              </a:defRPr>
            </a:lvl8pPr>
            <a:lvl9pPr>
              <a:defRPr sz="22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B4D"/>
                </a:solidFill>
              </a:defRPr>
            </a:pPr>
            <a:r>
              <a:rPr sz="2250" b="0">
                <a:solidFill>
                  <a:srgbClr val="172B4D"/>
                </a:solidFill>
              </a:rPr>
              <a:t>Pod readiness alone does not prove Service connectivity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9E7EA-B6E0-46C4-ADAC-5F6A2E30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B4D"/>
                </a:solidFill>
              </a:defRPr>
            </a:defPPr>
            <a:lvl1pPr>
              <a:defRPr sz="2250" b="0">
                <a:solidFill>
                  <a:srgbClr val="172B4D"/>
                </a:solidFill>
              </a:defRPr>
            </a:lvl1pPr>
            <a:lvl2pPr>
              <a:defRPr sz="2250" b="0">
                <a:solidFill>
                  <a:srgbClr val="172B4D"/>
                </a:solidFill>
              </a:defRPr>
            </a:lvl2pPr>
            <a:lvl3pPr>
              <a:defRPr sz="2250" b="0">
                <a:solidFill>
                  <a:srgbClr val="172B4D"/>
                </a:solidFill>
              </a:defRPr>
            </a:lvl3pPr>
            <a:lvl4pPr>
              <a:defRPr sz="2250" b="0">
                <a:solidFill>
                  <a:srgbClr val="172B4D"/>
                </a:solidFill>
              </a:defRPr>
            </a:lvl4pPr>
            <a:lvl5pPr>
              <a:defRPr sz="2250" b="0">
                <a:solidFill>
                  <a:srgbClr val="172B4D"/>
                </a:solidFill>
              </a:defRPr>
            </a:lvl5pPr>
            <a:lvl6pPr>
              <a:defRPr sz="2250" b="0">
                <a:solidFill>
                  <a:srgbClr val="172B4D"/>
                </a:solidFill>
              </a:defRPr>
            </a:lvl6pPr>
            <a:lvl7pPr>
              <a:defRPr sz="2250" b="0">
                <a:solidFill>
                  <a:srgbClr val="172B4D"/>
                </a:solidFill>
              </a:defRPr>
            </a:lvl7pPr>
            <a:lvl8pPr>
              <a:defRPr sz="2250" b="0">
                <a:solidFill>
                  <a:srgbClr val="172B4D"/>
                </a:solidFill>
              </a:defRPr>
            </a:lvl8pPr>
            <a:lvl9pPr>
              <a:defRPr sz="22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B4D"/>
                </a:solidFill>
              </a:defRPr>
            </a:pPr>
            <a:r>
              <a:rPr sz="2250" b="0">
                <a:solidFill>
                  <a:srgbClr val="172B4D"/>
                </a:solidFill>
              </a:rPr>
              <a:t>SHA tags identify exactly which images were deployed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C6C5B7-113F-4DBA-BF82-9F053420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B4D"/>
                </a:solidFill>
              </a:defRPr>
            </a:defPPr>
            <a:lvl1pPr>
              <a:defRPr sz="2250" b="0">
                <a:solidFill>
                  <a:srgbClr val="172B4D"/>
                </a:solidFill>
              </a:defRPr>
            </a:lvl1pPr>
            <a:lvl2pPr>
              <a:defRPr sz="2250" b="0">
                <a:solidFill>
                  <a:srgbClr val="172B4D"/>
                </a:solidFill>
              </a:defRPr>
            </a:lvl2pPr>
            <a:lvl3pPr>
              <a:defRPr sz="2250" b="0">
                <a:solidFill>
                  <a:srgbClr val="172B4D"/>
                </a:solidFill>
              </a:defRPr>
            </a:lvl3pPr>
            <a:lvl4pPr>
              <a:defRPr sz="2250" b="0">
                <a:solidFill>
                  <a:srgbClr val="172B4D"/>
                </a:solidFill>
              </a:defRPr>
            </a:lvl4pPr>
            <a:lvl5pPr>
              <a:defRPr sz="2250" b="0">
                <a:solidFill>
                  <a:srgbClr val="172B4D"/>
                </a:solidFill>
              </a:defRPr>
            </a:lvl5pPr>
            <a:lvl6pPr>
              <a:defRPr sz="2250" b="0">
                <a:solidFill>
                  <a:srgbClr val="172B4D"/>
                </a:solidFill>
              </a:defRPr>
            </a:lvl6pPr>
            <a:lvl7pPr>
              <a:defRPr sz="2250" b="0">
                <a:solidFill>
                  <a:srgbClr val="172B4D"/>
                </a:solidFill>
              </a:defRPr>
            </a:lvl7pPr>
            <a:lvl8pPr>
              <a:defRPr sz="2250" b="0">
                <a:solidFill>
                  <a:srgbClr val="172B4D"/>
                </a:solidFill>
              </a:defRPr>
            </a:lvl8pPr>
            <a:lvl9pPr>
              <a:defRPr sz="22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B4D"/>
                </a:solidFill>
              </a:defRPr>
            </a:pPr>
            <a:r>
              <a:rPr sz="2250" b="0">
                <a:solidFill>
                  <a:srgbClr val="172B4D"/>
                </a:solidFill>
              </a:rPr>
              <a:t>Inspect raw test failures and preserve recovery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67DF0-900D-435D-A759-B6D43841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B4D"/>
                </a:solidFill>
              </a:defRPr>
            </a:defPPr>
            <a:lvl1pPr>
              <a:defRPr sz="2250" b="0">
                <a:solidFill>
                  <a:srgbClr val="172B4D"/>
                </a:solidFill>
              </a:defRPr>
            </a:lvl1pPr>
            <a:lvl2pPr>
              <a:defRPr sz="2250" b="0">
                <a:solidFill>
                  <a:srgbClr val="172B4D"/>
                </a:solidFill>
              </a:defRPr>
            </a:lvl2pPr>
            <a:lvl3pPr>
              <a:defRPr sz="2250" b="0">
                <a:solidFill>
                  <a:srgbClr val="172B4D"/>
                </a:solidFill>
              </a:defRPr>
            </a:lvl3pPr>
            <a:lvl4pPr>
              <a:defRPr sz="2250" b="0">
                <a:solidFill>
                  <a:srgbClr val="172B4D"/>
                </a:solidFill>
              </a:defRPr>
            </a:lvl4pPr>
            <a:lvl5pPr>
              <a:defRPr sz="2250" b="0">
                <a:solidFill>
                  <a:srgbClr val="172B4D"/>
                </a:solidFill>
              </a:defRPr>
            </a:lvl5pPr>
            <a:lvl6pPr>
              <a:defRPr sz="2250" b="0">
                <a:solidFill>
                  <a:srgbClr val="172B4D"/>
                </a:solidFill>
              </a:defRPr>
            </a:lvl6pPr>
            <a:lvl7pPr>
              <a:defRPr sz="2250" b="0">
                <a:solidFill>
                  <a:srgbClr val="172B4D"/>
                </a:solidFill>
              </a:defRPr>
            </a:lvl7pPr>
            <a:lvl8pPr>
              <a:defRPr sz="2250" b="0">
                <a:solidFill>
                  <a:srgbClr val="172B4D"/>
                </a:solidFill>
              </a:defRPr>
            </a:lvl8pPr>
            <a:lvl9pPr>
              <a:defRPr sz="22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B4D"/>
                </a:solidFill>
              </a:defRPr>
            </a:pPr>
            <a:r>
              <a:rPr sz="2250" b="0">
                <a:solidFill>
                  <a:srgbClr val="172B4D"/>
                </a:solidFill>
              </a:rPr>
              <a:t>Destroy temporary cloud infrastructure after verification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99A4FC-5296-4A94-A811-9B75B888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1316207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51A35-85A0-422C-8F49-95DBEC8E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22641"/>
                </a:solidFill>
              </a:defRPr>
            </a:defPPr>
            <a:lvl1pPr>
              <a:defRPr sz="3300" b="1">
                <a:solidFill>
                  <a:srgbClr val="122641"/>
                </a:solidFill>
              </a:defRPr>
            </a:lvl1pPr>
            <a:lvl2pPr>
              <a:defRPr sz="3300" b="1">
                <a:solidFill>
                  <a:srgbClr val="122641"/>
                </a:solidFill>
              </a:defRPr>
            </a:lvl2pPr>
            <a:lvl3pPr>
              <a:defRPr sz="3300" b="1">
                <a:solidFill>
                  <a:srgbClr val="122641"/>
                </a:solidFill>
              </a:defRPr>
            </a:lvl3pPr>
            <a:lvl4pPr>
              <a:defRPr sz="3300" b="1">
                <a:solidFill>
                  <a:srgbClr val="122641"/>
                </a:solidFill>
              </a:defRPr>
            </a:lvl4pPr>
            <a:lvl5pPr>
              <a:defRPr sz="3300" b="1">
                <a:solidFill>
                  <a:srgbClr val="122641"/>
                </a:solidFill>
              </a:defRPr>
            </a:lvl5pPr>
            <a:lvl6pPr>
              <a:defRPr sz="3300" b="1">
                <a:solidFill>
                  <a:srgbClr val="122641"/>
                </a:solidFill>
              </a:defRPr>
            </a:lvl6pPr>
            <a:lvl7pPr>
              <a:defRPr sz="3300" b="1">
                <a:solidFill>
                  <a:srgbClr val="122641"/>
                </a:solidFill>
              </a:defRPr>
            </a:lvl7pPr>
            <a:lvl8pPr>
              <a:defRPr sz="3300" b="1">
                <a:solidFill>
                  <a:srgbClr val="122641"/>
                </a:solidFill>
              </a:defRPr>
            </a:lvl8pPr>
            <a:lvl9pPr>
              <a:defRPr sz="3300" b="1">
                <a:solidFill>
                  <a:srgbClr val="122641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22641"/>
                </a:solidFill>
              </a:defRPr>
            </a:pPr>
            <a:r>
              <a:rPr sz="3300" b="1">
                <a:solidFill>
                  <a:srgbClr val="122641"/>
                </a:solidFill>
              </a:rPr>
              <a:t>Presentation demo and 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BA7D08-B4F7-454A-AFBA-EC28349B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Create an assignment and show the API and 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DB405A-0872-4B5F-8C06-35CB9611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Commit a small change, push and follow the pipeline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7886C-D771-4781-9ACA-63A40279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Verify the image SHA and deploy the approved release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08E22-77C5-40C3-B33D-FE24E3E1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52900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Check Ingress, autoscaling and monitoring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D6A7B7-60EC-484E-AE47-25745CC2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</a:defRPr>
            </a:defPPr>
            <a:lvl1pPr>
              <a:defRPr sz="2025" b="0">
                <a:solidFill>
                  <a:srgbClr val="172B4D"/>
                </a:solidFill>
              </a:defRPr>
            </a:lvl1pPr>
            <a:lvl2pPr>
              <a:defRPr sz="2025" b="0">
                <a:solidFill>
                  <a:srgbClr val="172B4D"/>
                </a:solidFill>
              </a:defRPr>
            </a:lvl2pPr>
            <a:lvl3pPr>
              <a:defRPr sz="2025" b="0">
                <a:solidFill>
                  <a:srgbClr val="172B4D"/>
                </a:solidFill>
              </a:defRPr>
            </a:lvl3pPr>
            <a:lvl4pPr>
              <a:defRPr sz="2025" b="0">
                <a:solidFill>
                  <a:srgbClr val="172B4D"/>
                </a:solidFill>
              </a:defRPr>
            </a:lvl4pPr>
            <a:lvl5pPr>
              <a:defRPr sz="2025" b="0">
                <a:solidFill>
                  <a:srgbClr val="172B4D"/>
                </a:solidFill>
              </a:defRPr>
            </a:lvl5pPr>
            <a:lvl6pPr>
              <a:defRPr sz="2025" b="0">
                <a:solidFill>
                  <a:srgbClr val="172B4D"/>
                </a:solidFill>
              </a:defRPr>
            </a:lvl6pPr>
            <a:lvl7pPr>
              <a:defRPr sz="2025" b="0">
                <a:solidFill>
                  <a:srgbClr val="172B4D"/>
                </a:solidFill>
              </a:defRPr>
            </a:lvl7pPr>
            <a:lvl8pPr>
              <a:defRPr sz="2025" b="0">
                <a:solidFill>
                  <a:srgbClr val="172B4D"/>
                </a:solidFill>
              </a:defRPr>
            </a:lvl8pPr>
            <a:lvl9pPr>
              <a:defRPr sz="20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</a:defRPr>
            </a:pPr>
            <a:r>
              <a:rPr sz="2025" b="0">
                <a:solidFill>
                  <a:srgbClr val="172B4D"/>
                </a:solidFill>
              </a:rPr>
              <a:t>Explain a failure, recovery and cleanup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C86104-93C0-4FEA-A8C3-5BFF79E8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24000"/>
            <a:ext cx="447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72B4D"/>
                </a:solidFill>
              </a:defRPr>
            </a:defPPr>
            <a:lvl1pPr>
              <a:defRPr sz="1725" b="0">
                <a:solidFill>
                  <a:srgbClr val="172B4D"/>
                </a:solidFill>
              </a:defRPr>
            </a:lvl1pPr>
            <a:lvl2pPr>
              <a:defRPr sz="1725" b="0">
                <a:solidFill>
                  <a:srgbClr val="172B4D"/>
                </a:solidFill>
              </a:defRPr>
            </a:lvl2pPr>
            <a:lvl3pPr>
              <a:defRPr sz="1725" b="0">
                <a:solidFill>
                  <a:srgbClr val="172B4D"/>
                </a:solidFill>
              </a:defRPr>
            </a:lvl3pPr>
            <a:lvl4pPr>
              <a:defRPr sz="1725" b="0">
                <a:solidFill>
                  <a:srgbClr val="172B4D"/>
                </a:solidFill>
              </a:defRPr>
            </a:lvl4pPr>
            <a:lvl5pPr>
              <a:defRPr sz="1725" b="0">
                <a:solidFill>
                  <a:srgbClr val="172B4D"/>
                </a:solidFill>
              </a:defRPr>
            </a:lvl5pPr>
            <a:lvl6pPr>
              <a:defRPr sz="1725" b="0">
                <a:solidFill>
                  <a:srgbClr val="172B4D"/>
                </a:solidFill>
              </a:defRPr>
            </a:lvl6pPr>
            <a:lvl7pPr>
              <a:defRPr sz="1725" b="0">
                <a:solidFill>
                  <a:srgbClr val="172B4D"/>
                </a:solidFill>
              </a:defRPr>
            </a:lvl7pPr>
            <a:lvl8pPr>
              <a:defRPr sz="1725" b="0">
                <a:solidFill>
                  <a:srgbClr val="172B4D"/>
                </a:solidFill>
              </a:defRPr>
            </a:lvl8pPr>
            <a:lvl9pPr>
              <a:defRPr sz="17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B4D"/>
                </a:solidFill>
              </a:defRPr>
            </a:pPr>
            <a:r>
              <a:rPr sz="1725" b="0">
                <a:solidFill>
                  <a:srgbClr val="172B4D"/>
                </a:solidFill>
              </a:rPr>
              <a:t>Repository and source 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B217F8-2DB0-442F-8795-4980944B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76500"/>
            <a:ext cx="447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72B4D"/>
                </a:solidFill>
              </a:defRPr>
            </a:defPPr>
            <a:lvl1pPr>
              <a:defRPr sz="1725" b="0">
                <a:solidFill>
                  <a:srgbClr val="172B4D"/>
                </a:solidFill>
              </a:defRPr>
            </a:lvl1pPr>
            <a:lvl2pPr>
              <a:defRPr sz="1725" b="0">
                <a:solidFill>
                  <a:srgbClr val="172B4D"/>
                </a:solidFill>
              </a:defRPr>
            </a:lvl2pPr>
            <a:lvl3pPr>
              <a:defRPr sz="1725" b="0">
                <a:solidFill>
                  <a:srgbClr val="172B4D"/>
                </a:solidFill>
              </a:defRPr>
            </a:lvl3pPr>
            <a:lvl4pPr>
              <a:defRPr sz="1725" b="0">
                <a:solidFill>
                  <a:srgbClr val="172B4D"/>
                </a:solidFill>
              </a:defRPr>
            </a:lvl4pPr>
            <a:lvl5pPr>
              <a:defRPr sz="1725" b="0">
                <a:solidFill>
                  <a:srgbClr val="172B4D"/>
                </a:solidFill>
              </a:defRPr>
            </a:lvl5pPr>
            <a:lvl6pPr>
              <a:defRPr sz="1725" b="0">
                <a:solidFill>
                  <a:srgbClr val="172B4D"/>
                </a:solidFill>
              </a:defRPr>
            </a:lvl6pPr>
            <a:lvl7pPr>
              <a:defRPr sz="1725" b="0">
                <a:solidFill>
                  <a:srgbClr val="172B4D"/>
                </a:solidFill>
              </a:defRPr>
            </a:lvl7pPr>
            <a:lvl8pPr>
              <a:defRPr sz="1725" b="0">
                <a:solidFill>
                  <a:srgbClr val="172B4D"/>
                </a:solidFill>
              </a:defRPr>
            </a:lvl8pPr>
            <a:lvl9pPr>
              <a:defRPr sz="17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B4D"/>
                </a:solidFill>
              </a:defRPr>
            </a:pPr>
            <a:r>
              <a:rPr sz="1725" b="0">
                <a:solidFill>
                  <a:srgbClr val="172B4D"/>
                </a:solidFill>
              </a:rPr>
              <a:t>github.com/karttikjangid/homework-tracker-capstone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E66CE4-8878-4AFF-8F7E-981C16EE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29000"/>
            <a:ext cx="447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72B4D"/>
                </a:solidFill>
              </a:defRPr>
            </a:defPPr>
            <a:lvl1pPr>
              <a:defRPr sz="1725" b="0">
                <a:solidFill>
                  <a:srgbClr val="172B4D"/>
                </a:solidFill>
              </a:defRPr>
            </a:lvl1pPr>
            <a:lvl2pPr>
              <a:defRPr sz="1725" b="0">
                <a:solidFill>
                  <a:srgbClr val="172B4D"/>
                </a:solidFill>
              </a:defRPr>
            </a:lvl2pPr>
            <a:lvl3pPr>
              <a:defRPr sz="1725" b="0">
                <a:solidFill>
                  <a:srgbClr val="172B4D"/>
                </a:solidFill>
              </a:defRPr>
            </a:lvl3pPr>
            <a:lvl4pPr>
              <a:defRPr sz="1725" b="0">
                <a:solidFill>
                  <a:srgbClr val="172B4D"/>
                </a:solidFill>
              </a:defRPr>
            </a:lvl4pPr>
            <a:lvl5pPr>
              <a:defRPr sz="1725" b="0">
                <a:solidFill>
                  <a:srgbClr val="172B4D"/>
                </a:solidFill>
              </a:defRPr>
            </a:lvl5pPr>
            <a:lvl6pPr>
              <a:defRPr sz="1725" b="0">
                <a:solidFill>
                  <a:srgbClr val="172B4D"/>
                </a:solidFill>
              </a:defRPr>
            </a:lvl6pPr>
            <a:lvl7pPr>
              <a:defRPr sz="1725" b="0">
                <a:solidFill>
                  <a:srgbClr val="172B4D"/>
                </a:solidFill>
              </a:defRPr>
            </a:lvl7pPr>
            <a:lvl8pPr>
              <a:defRPr sz="1725" b="0">
                <a:solidFill>
                  <a:srgbClr val="172B4D"/>
                </a:solidFill>
              </a:defRPr>
            </a:lvl8pPr>
            <a:lvl9pPr>
              <a:defRPr sz="17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B4D"/>
                </a:solidFill>
              </a:defRPr>
            </a:pPr>
            <a:r>
              <a:rPr sz="1725" b="0">
                <a:solidFill>
                  <a:srgbClr val="172B4D"/>
                </a:solidFill>
              </a:rPr>
              <a:t>Recorded walkthrough: docs/walkthrough.md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F1DAEA-D9FE-44E9-84E3-E444A80B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381500"/>
            <a:ext cx="447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72B4D"/>
                </a:solidFill>
              </a:defRPr>
            </a:defPPr>
            <a:lvl1pPr>
              <a:defRPr sz="1725" b="0">
                <a:solidFill>
                  <a:srgbClr val="172B4D"/>
                </a:solidFill>
              </a:defRPr>
            </a:lvl1pPr>
            <a:lvl2pPr>
              <a:defRPr sz="1725" b="0">
                <a:solidFill>
                  <a:srgbClr val="172B4D"/>
                </a:solidFill>
              </a:defRPr>
            </a:lvl2pPr>
            <a:lvl3pPr>
              <a:defRPr sz="1725" b="0">
                <a:solidFill>
                  <a:srgbClr val="172B4D"/>
                </a:solidFill>
              </a:defRPr>
            </a:lvl3pPr>
            <a:lvl4pPr>
              <a:defRPr sz="1725" b="0">
                <a:solidFill>
                  <a:srgbClr val="172B4D"/>
                </a:solidFill>
              </a:defRPr>
            </a:lvl4pPr>
            <a:lvl5pPr>
              <a:defRPr sz="1725" b="0">
                <a:solidFill>
                  <a:srgbClr val="172B4D"/>
                </a:solidFill>
              </a:defRPr>
            </a:lvl5pPr>
            <a:lvl6pPr>
              <a:defRPr sz="1725" b="0">
                <a:solidFill>
                  <a:srgbClr val="172B4D"/>
                </a:solidFill>
              </a:defRPr>
            </a:lvl6pPr>
            <a:lvl7pPr>
              <a:defRPr sz="1725" b="0">
                <a:solidFill>
                  <a:srgbClr val="172B4D"/>
                </a:solidFill>
              </a:defRPr>
            </a:lvl7pPr>
            <a:lvl8pPr>
              <a:defRPr sz="1725" b="0">
                <a:solidFill>
                  <a:srgbClr val="172B4D"/>
                </a:solidFill>
              </a:defRPr>
            </a:lvl8pPr>
            <a:lvl9pPr>
              <a:defRPr sz="172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B4D"/>
                </a:solidFill>
              </a:defRPr>
            </a:pPr>
            <a:r>
              <a:rPr sz="1725" b="0">
                <a:solidFill>
                  <a:srgbClr val="172B4D"/>
                </a:solidFill>
              </a:rPr>
              <a:t>Instructor brief and rubric: docs/course/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AF38E-A84D-41A4-8645-E35BDE39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674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085"/>
                </a:solidFill>
              </a:defRPr>
            </a:defPPr>
            <a:lvl1pPr>
              <a:defRPr sz="1200" b="0">
                <a:solidFill>
                  <a:srgbClr val="667085"/>
                </a:solidFill>
              </a:defRPr>
            </a:lvl1pPr>
            <a:lvl2pPr>
              <a:defRPr sz="1200" b="0">
                <a:solidFill>
                  <a:srgbClr val="667085"/>
                </a:solidFill>
              </a:defRPr>
            </a:lvl2pPr>
            <a:lvl3pPr>
              <a:defRPr sz="1200" b="0">
                <a:solidFill>
                  <a:srgbClr val="667085"/>
                </a:solidFill>
              </a:defRPr>
            </a:lvl3pPr>
            <a:lvl4pPr>
              <a:defRPr sz="1200" b="0">
                <a:solidFill>
                  <a:srgbClr val="667085"/>
                </a:solidFill>
              </a:defRPr>
            </a:lvl4pPr>
            <a:lvl5pPr>
              <a:defRPr sz="1200" b="0">
                <a:solidFill>
                  <a:srgbClr val="667085"/>
                </a:solidFill>
              </a:defRPr>
            </a:lvl5pPr>
            <a:lvl6pPr>
              <a:defRPr sz="1200" b="0">
                <a:solidFill>
                  <a:srgbClr val="667085"/>
                </a:solidFill>
              </a:defRPr>
            </a:lvl6pPr>
            <a:lvl7pPr>
              <a:defRPr sz="1200" b="0">
                <a:solidFill>
                  <a:srgbClr val="667085"/>
                </a:solidFill>
              </a:defRPr>
            </a:lvl7pPr>
            <a:lvl8pPr>
              <a:defRPr sz="1200" b="0">
                <a:solidFill>
                  <a:srgbClr val="667085"/>
                </a:solidFill>
              </a:defRPr>
            </a:lvl8pPr>
            <a:lvl9pPr>
              <a:defRPr sz="1200" b="0">
                <a:solidFill>
                  <a:srgbClr val="667085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579423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2026-10-26T12:06:00.6620000Z</dcterms:created>
  <dcterms:modified xsi:type="dcterms:W3CDTF">2026-10-26T12:06:00.6620000Z</dcterms:modified>
</coreProperties>
</file>